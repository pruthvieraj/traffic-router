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Calibri"/>
              </a:defRPr>
            </a:pPr>
            <a:r>
              <a:rPr sz="1200" b="0" i="0" u="none" strike="noStrike">
                <a:solidFill>
                  <a:srgbClr val="000000"/>
                </a:solidFill>
                <a:latin typeface="Calibri"/>
              </a:rPr>
              <a:t>Total route time by problem size (lower is better)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Classical (2-opt)</c:v>
                </c:pt>
              </c:strCache>
            </c:strRef>
          </c:tx>
          <c:spPr>
            <a:solidFill>
              <a:srgbClr val="4755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6</c:v>
                  </c:pt>
                  <c:pt idx="1">
                    <c:v>8</c:v>
                  </c:pt>
                  <c:pt idx="2">
                    <c:v>10</c:v>
                  </c:pt>
                  <c:pt idx="3">
                    <c:v>12</c:v>
                  </c:pt>
                  <c:pt idx="4">
                    <c:v>14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186.7</c:v>
                </c:pt>
                <c:pt idx="1">
                  <c:v>186.7</c:v>
                </c:pt>
                <c:pt idx="2">
                  <c:v>260.6</c:v>
                </c:pt>
                <c:pt idx="3">
                  <c:v>412.3</c:v>
                </c:pt>
                <c:pt idx="4">
                  <c:v>538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Quantum-inspired (QUBO+SA)</c:v>
                </c:pt>
              </c:strCache>
            </c:strRef>
          </c:tx>
          <c:spPr>
            <a:solidFill>
              <a:srgbClr val="7C3AE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6</c:v>
                  </c:pt>
                  <c:pt idx="1">
                    <c:v>8</c:v>
                  </c:pt>
                  <c:pt idx="2">
                    <c:v>10</c:v>
                  </c:pt>
                  <c:pt idx="3">
                    <c:v>12</c:v>
                  </c:pt>
                  <c:pt idx="4">
                    <c:v>14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186.7</c:v>
                </c:pt>
                <c:pt idx="1">
                  <c:v>220.2</c:v>
                </c:pt>
                <c:pt idx="2">
                  <c:v>301.7</c:v>
                </c:pt>
                <c:pt idx="3">
                  <c:v>561.7</c:v>
                </c:pt>
                <c:pt idx="4">
                  <c:v>725.8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Google OR-Tools</c:v>
                </c:pt>
              </c:strCache>
            </c:strRef>
          </c:tx>
          <c:spPr>
            <a:solidFill>
              <a:srgbClr val="22C55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475569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6</c:v>
                  </c:pt>
                  <c:pt idx="1">
                    <c:v>8</c:v>
                  </c:pt>
                  <c:pt idx="2">
                    <c:v>10</c:v>
                  </c:pt>
                  <c:pt idx="3">
                    <c:v>12</c:v>
                  </c:pt>
                  <c:pt idx="4">
                    <c:v>14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186.7</c:v>
                </c:pt>
                <c:pt idx="1">
                  <c:v>186.7</c:v>
                </c:pt>
                <c:pt idx="2">
                  <c:v>260.6</c:v>
                </c:pt>
                <c:pt idx="3">
                  <c:v>412.3</c:v>
                </c:pt>
                <c:pt idx="4">
                  <c:v>538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475569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47556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Backup answers: classical 2-opt beats our QUBO on PLAIN routing and we say so on slide 5 — the real claim is Experiment 2 (constraint satisfaction by construction). QAOA and real D-Wave hardware are both demonstrated via run_qaoa_demo.py and run_on_real_quantum_hardware.py, not just claimed. Analytics/OR-Tools/QAOA are all optional dependencies with graceful degradation — see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6400800" cy="6400800"/>
          </a:xfrm>
          <a:prstGeom prst="ellipse">
            <a:avLst/>
          </a:prstGeom>
          <a:solidFill>
            <a:srgbClr val="7C3AED">
              <a:alpha val="22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241280" y="3291840"/>
            <a:ext cx="4206240" cy="4206240"/>
          </a:xfrm>
          <a:prstGeom prst="ellipse">
            <a:avLst/>
          </a:prstGeom>
          <a:solidFill>
            <a:srgbClr val="22D3EE">
              <a:alpha val="1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13716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SIH 2026  ·  PROBLEM STATEMENT 26137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874520"/>
            <a:ext cx="960120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Quantum-Inspired Traffic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Route Optimization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794760"/>
            <a:ext cx="78638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click-anywhere route optimizer that reformulates “what order should I visit these stops in” as a QUBO and solves it the way quantum annealers and gate-based quantum circuits do — benchmarked honestly against classical heuristics and Google's own production solver, not just claimed.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98932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traffic-router.onrender.com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Visiting order is the hard part — not point-to-point directions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737360"/>
            <a:ext cx="6126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delivery van with 8 stops has </a:t>
            </a:r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40,320</a:t>
            </a:r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possible visiting orders — picking badly wastes real fuel and time. This is the Traveling Salesman Problem, and it stays hard as stop counts grow.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612648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the best order at 9am often is not the best order at 6pm — real dispatch also has rules beyond “shortest path”: a pickup before its drop-off, a vehicle's carrying capacity, a stop that must happen before a cutoff.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78040" y="1737360"/>
            <a:ext cx="4480560" cy="4297680"/>
          </a:xfrm>
          <a:prstGeom prst="roundRect">
            <a:avLst>
              <a:gd name="adj" fmla="val 2553"/>
            </a:avLst>
          </a:prstGeom>
          <a:solidFill>
            <a:srgbClr val="1E1B4B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178040" y="2148840"/>
            <a:ext cx="4480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8" name="Text 6"/>
          <p:cNvSpPr txBox="1"/>
          <p:nvPr/>
        </p:nvSpPr>
        <p:spPr>
          <a:xfrm>
            <a:off x="7178040" y="3246120"/>
            <a:ext cx="44805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interior stops in one of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own benchmark routes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7818120" y="4160520"/>
            <a:ext cx="3200400" cy="0"/>
          </a:xfrm>
          <a:prstGeom prst="line">
            <a:avLst/>
          </a:prstGeom>
          <a:noFill/>
          <a:ln w="12700">
            <a:solidFill>
              <a:srgbClr val="3730A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178040" y="4343400"/>
            <a:ext cx="44805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40,320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7178040" y="5257800"/>
            <a:ext cx="4480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visiting orders (8!)</a:t>
            </a:r>
            <a:endParaRPr lang="en-US" sz="13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search for the best one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 steps, from a city map to a proven-better route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121408" cy="41148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335024" y="210312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35024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834640"/>
            <a:ext cx="1847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Get the map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3474720"/>
            <a:ext cx="175564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road network for the city — click anywhere, live in the browser.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743200" y="1828800"/>
            <a:ext cx="2121408" cy="41148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9584" y="210312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29584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2834640"/>
            <a:ext cx="1847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traffic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2926080" y="3474720"/>
            <a:ext cx="175564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times stretch by time of day; an incident can spike one road on demand.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937760" y="1828800"/>
            <a:ext cx="2121408" cy="41148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724144" y="210312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724144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5074920" y="2834640"/>
            <a:ext cx="1847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matrix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474720"/>
            <a:ext cx="175564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Collapse the map to just the pairwise travel times between your chosen stops.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132320" y="1828800"/>
            <a:ext cx="2121408" cy="4114800"/>
          </a:xfrm>
          <a:prstGeom prst="roundRect">
            <a:avLst>
              <a:gd name="adj" fmla="val 4310"/>
            </a:avLst>
          </a:prstGeom>
          <a:solidFill>
            <a:srgbClr val="1E1B4B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18704" y="2103120"/>
            <a:ext cx="548640" cy="548640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18704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7269480" y="2834640"/>
            <a:ext cx="1847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 the QUBO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7315200" y="3474720"/>
            <a:ext cx="175564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Reformulate the ordering problem for quantum annealing or QAOA — solved today via simulated annealing or a simulated quantum circuit.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326880" y="1828800"/>
            <a:ext cx="2121408" cy="4114800"/>
          </a:xfrm>
          <a:prstGeom prst="roundRect">
            <a:avLst>
              <a:gd name="adj" fmla="val 431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10113264" y="2103120"/>
            <a:ext cx="548640" cy="54864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113264" y="21031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 txBox="1"/>
          <p:nvPr/>
        </p:nvSpPr>
        <p:spPr>
          <a:xfrm>
            <a:off x="9464040" y="2834640"/>
            <a:ext cx="1847088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 it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9509760" y="3474720"/>
            <a:ext cx="1755648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the optimized route next to the naive one, with a real time-savings percentage.</a:t>
            </a:r>
            <a:endParaRPr lang="en-US" sz="115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30" name="Text 28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TIED TO ONE QUANTUM APPROACH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QUBO, two different quantum computing paradigms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7C3AED">
              <a:alpha val="15000"/>
            </a:srgbClr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 annealing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834640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Simulated by default (dwave-samplers) — fast, free, no hardware needed for the live demo.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same BQM also runs on a real D-Wave QPU via a free Leap account — run_on_real_quantum_hardware.py prints an actual chip ID and hardware timing.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4206240"/>
          </a:xfrm>
          <a:prstGeom prst="roundRect">
            <a:avLst>
              <a:gd name="adj" fmla="val 260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2148840"/>
            <a:ext cx="3291840" cy="457200"/>
          </a:xfrm>
          <a:prstGeom prst="roundRect">
            <a:avLst>
              <a:gd name="adj" fmla="val 50000"/>
            </a:avLst>
          </a:prstGeom>
          <a:solidFill>
            <a:srgbClr val="22D3EE">
              <a:alpha val="15000"/>
            </a:srgbClr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37960" y="214884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Gate-based circuits (QAOA)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834640"/>
            <a:ext cx="46634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QUBO, converted to Ising form and solved by an explicit QAOA circuit (RZ/RZZ/RX gates) on a Qiskit statevector simulator.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hand-off between formulations — one routing QUBO, portable to either major quantum computing paradigm with zero reformulation.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— EXPERIMENT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Plain routing: classical wins — and we say so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9494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91640"/>
            <a:ext cx="3886200" cy="4297680"/>
          </a:xfrm>
          <a:prstGeom prst="roundRect">
            <a:avLst>
              <a:gd name="adj" fmla="val 2824"/>
            </a:avLst>
          </a:prstGeom>
          <a:solidFill>
            <a:srgbClr val="1E1B4B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6" name="Text 3"/>
          <p:cNvSpPr txBox="1"/>
          <p:nvPr/>
        </p:nvSpPr>
        <p:spPr>
          <a:xfrm>
            <a:off x="8092440" y="19659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honest finding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8092440" y="2514600"/>
            <a:ext cx="329184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nearest-neighbor + 2-opt matches or beats our QUBO+SA solver on plain, unconstrained routing — and matches Google OR-Tools' production solver too.</a:t>
            </a:r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endParaRPr lang="en-US" sz="13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don't hide this. It's well-established operations-research literature, and it points at exactly where the quantum-inspired approach's real advantage shows up next.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— EXPERIMENT 2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ONE real dispatch rule — and the gap flips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312E81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103120"/>
            <a:ext cx="3566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2C55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15/15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31546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QUBO+SA satisfied the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precedence rule by construction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2024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312E81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4343400" y="2103120"/>
            <a:ext cx="3566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8/15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26280" y="31546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trials where constraint-blind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2-opt violated the same rule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20240"/>
            <a:ext cx="3566160" cy="2377440"/>
          </a:xfrm>
          <a:prstGeom prst="roundRect">
            <a:avLst>
              <a:gd name="adj" fmla="val 4615"/>
            </a:avLst>
          </a:prstGeom>
          <a:solidFill>
            <a:srgbClr val="312E81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8138160" y="2103120"/>
            <a:ext cx="356616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9731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+31.9%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8321040" y="3154680"/>
            <a:ext cx="32004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worst-case extra distance from</a:t>
            </a:r>
            <a:endParaRPr lang="en-US" sz="12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patching a violated route after the fact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4617720"/>
            <a:ext cx="11064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dispatch always has rules beyond “shortest path” — pickup before drop-off, a stop before a cutoff, a road off-limits for one vehicle class. A classical local-search heuristic has no notion of these; the QUBO formulation adds each one as one more composable penalty term in the same optimization, satisfied by construction, not checked after the fact.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ONE VEHICLE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Multi-vehicle dispatch, with capacity that means what it says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457200" cy="457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8745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234440" y="1783080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 by default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4206240" y="1783080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Farthest-point clustering alone can hand one vehicle 14 stops and another 2 — every split is rebalanced against a fair-share target automatically.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953512"/>
            <a:ext cx="457200" cy="457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2953512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1234440" y="2862072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real, enforced cap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4206240" y="2862072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“Max/vehicle” genuinely limits every vehicle's stop count, auto-raising the fleet size if the requested vehicles can't satisfy it — not a suggestion.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4032504"/>
            <a:ext cx="457200" cy="457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0325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234440" y="3941064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Capacity by load, not just count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4206240" y="3941064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Per-stop demand weights turn the same cap into a total-weight limit, for when a crate and a pallet aren't the same “one stop.”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5111496"/>
            <a:ext cx="457200" cy="457200"/>
          </a:xfrm>
          <a:prstGeom prst="ellipse">
            <a:avLst/>
          </a:prstGeom>
          <a:solidFill>
            <a:srgbClr val="7C3AED">
              <a:alpha val="15000"/>
            </a:srgbClr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11149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7C3AE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1234440" y="5020056"/>
            <a:ext cx="2834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bin-packing bug we caught ourselves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4206240" y="5020056"/>
            <a:ext cx="74066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ceil(total demand / capacity) is only a lower bound with uneven weights — our own test suite caught the undercount; fixed with a retry loop that's now covered by regression tests.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21" name="Text 19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PRODUCT, NOT JUST AN ALGORITHM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Everything a judge can click, today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202996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54203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Bulk import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97180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Paste or upload a CSV of stops — geocoded automatically.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3328416" y="182880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529584" y="2029968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511296" y="254203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Shareable link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11296" y="297180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URL encodes the whole route — city, stops, method, rules.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08192" y="182880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309360" y="202996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291072" y="254203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GPX + PDF export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6291072" y="297180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solved route into any GPS device, or print it.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87968" y="182880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089136" y="2029968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070848" y="254203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Dark / light theme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9070848" y="297180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design system, not default browser styling.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3192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49808" y="413308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731520" y="464515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Precedence rules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31520" y="507492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“Visit A before B” — baked into the same QUBO, not bolted on.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3328416" y="393192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3529584" y="4133088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3511296" y="464515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analytics</a:t>
            </a:r>
            <a:endParaRPr lang="en-US" sz="1350" dirty="0"/>
          </a:p>
        </p:txBody>
      </p:sp>
      <p:sp>
        <p:nvSpPr>
          <p:cNvPr id="27" name="Text 25"/>
          <p:cNvSpPr txBox="1"/>
          <p:nvPr/>
        </p:nvSpPr>
        <p:spPr>
          <a:xfrm>
            <a:off x="3511296" y="507492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/api/analytics — a real usage counter, honestly scoped.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108192" y="393192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6309360" y="4133088"/>
            <a:ext cx="384048" cy="38404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91072" y="464515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OpenAPI spec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291072" y="507492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field tested against the real Flask responses.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887968" y="3931920"/>
            <a:ext cx="2724912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9089136" y="4133088"/>
            <a:ext cx="384048" cy="384048"/>
          </a:xfrm>
          <a:prstGeom prst="ellipse">
            <a:avLst/>
          </a:prstGeom>
          <a:solidFill>
            <a:srgbClr val="22D3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9070848" y="4645152"/>
            <a:ext cx="2359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One-command deploy</a:t>
            </a:r>
            <a:endParaRPr lang="en-US" sz="1350" dirty="0"/>
          </a:p>
        </p:txBody>
      </p:sp>
      <p:sp>
        <p:nvSpPr>
          <p:cNvPr id="35" name="Text 33"/>
          <p:cNvSpPr txBox="1"/>
          <p:nvPr/>
        </p:nvSpPr>
        <p:spPr>
          <a:xfrm>
            <a:off x="9070848" y="5074920"/>
            <a:ext cx="235915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Dockerfile + Render/GitHub Pages guides included.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NOTEBOOK DEMO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Tested, documented, and deployable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312E81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548640" y="2148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275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2004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(pytest + Playwright + Node)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55848" y="196596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312E81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355848" y="2148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3493008" y="32004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test suite runs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 via CI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163056" y="196596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312E81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163056" y="2148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6300216" y="32004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solvers benchmarked side by side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(2-opt, OR-Tools, QUBO+SA)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8970264" y="1965960"/>
            <a:ext cx="2606040" cy="2286000"/>
          </a:xfrm>
          <a:prstGeom prst="roundRect">
            <a:avLst>
              <a:gd name="adj" fmla="val 4800"/>
            </a:avLst>
          </a:prstGeom>
          <a:solidFill>
            <a:srgbClr val="312E81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8970264" y="2148840"/>
            <a:ext cx="26060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22D3E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9107424" y="3200400"/>
            <a:ext cx="2331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 to self-host</a:t>
            </a:r>
            <a:endParaRPr lang="en-US" sz="11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(Dockerfile included)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663440"/>
            <a:ext cx="11064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openapi.yaml is checked against the live Flask responses by the test suite itself — so the documentation can't silently drift from what the API actually returns.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18" name="Text 16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IS PATENT-SHAPED, NOT JUST CODE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concrete, measurable technical effect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11064240" cy="1737360"/>
          </a:xfrm>
          <a:prstGeom prst="roundRect">
            <a:avLst>
              <a:gd name="adj" fmla="val 6316"/>
            </a:avLst>
          </a:prstGeom>
          <a:solidFill>
            <a:srgbClr val="1E1B4B"/>
          </a:solidFill>
          <a:ln/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965960"/>
            <a:ext cx="10332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50" i="1" dirty="0">
                <a:solidFill>
                  <a:srgbClr val="E0E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“A routing optimizer in which additional real-world dispatch constraints are incorporated as composable penalty terms within a single QUBO formulation, guaranteeing constraint satisfaction by construction — compared to a measured tendency of unconstrained classical local-search heuristics to violate such constraints and require costly post-hoc repair.”</a:t>
            </a:r>
            <a:endParaRPr lang="en-US" sz="155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794760"/>
            <a:ext cx="110642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Measured, not asserted: Experiment 2's 15/15 vs 8/15 gap is reproducible with `python3 src/benchmark.py`.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Composable by design: precedence and multi-vehicle capacity are each one more penalty term — not a bespoke solver per rule, unlike classical VRP tooling.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200"/>
              </a:spcAft>
              <a:buSzPct val="100000"/>
              <a:buChar char="●"/>
            </a:pPr>
            <a:r>
              <a:rPr lang="en-US" sz="14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Aligned with the 2025 CRI patent guidance's bar for a “concrete, measurable technical effect,” not an abstract algorithm claim.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107899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live vs. the honest next steps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48840"/>
            <a:ext cx="320040" cy="32004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325880" y="21214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Already shipped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78892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Precedence constraints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Multi-vehicle capacity (count or weight)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OR-Tools + QAOA comparisons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usage analytics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OpenAPI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17920" y="1828800"/>
            <a:ext cx="539496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38100" dir="5400000">
              <a:srgbClr val="0F172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537960" y="2148840"/>
            <a:ext cx="320040" cy="3200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995160" y="2121408"/>
            <a:ext cx="4297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1B4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next steps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2788920"/>
            <a:ext cx="4663440" cy="2834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time windows (same penalty-term pattern)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real, paid traffic API (interface already pluggable)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Cross-cluster precedence above 9 stops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●"/>
            </a:pPr>
            <a:r>
              <a:rPr lang="en-US" sz="13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Shared, durable analytics storage past a single worker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Quantum-Inspired Traffic Router  ·  SIH26137</a:t>
            </a:r>
            <a:endParaRPr lang="en-US" sz="900" dirty="0"/>
          </a:p>
        </p:txBody>
      </p:sp>
      <p:sp>
        <p:nvSpPr>
          <p:cNvPr id="13" name="Text 11"/>
          <p:cNvSpPr txBox="1"/>
          <p:nvPr/>
        </p:nvSpPr>
        <p:spPr>
          <a:xfrm>
            <a:off x="11521440" y="6473952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1B4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2286000" y="3200400"/>
            <a:ext cx="6400800" cy="6400800"/>
          </a:xfrm>
          <a:prstGeom prst="ellipse">
            <a:avLst/>
          </a:prstGeom>
          <a:solidFill>
            <a:srgbClr val="7C3AED">
              <a:alpha val="20000"/>
            </a:srgbClr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2286000"/>
            <a:ext cx="91440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2918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7D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welcome — including the hard ones about what's simulated and what isn't.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42062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demo: traffic-router.onrender.com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461772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2D3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+ full test suite + docs: see the project README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Quantum-Inspired Traffic Router</dc:title>
  <dc:subject>PptxGenJS Presentation</dc:subject>
  <dc:creator>Quantum-Inspired Traffic Router — SIH26137</dc:creator>
  <cp:lastModifiedBy>Quantum-Inspired Traffic Router — SIH26137</cp:lastModifiedBy>
  <cp:revision>1</cp:revision>
  <dcterms:created xsi:type="dcterms:W3CDTF">2026-09-01T19:08:51Z</dcterms:created>
  <dcterms:modified xsi:type="dcterms:W3CDTF">2026-09-01T19:08:51Z</dcterms:modified>
</cp:coreProperties>
</file>