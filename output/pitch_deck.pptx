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Calibri"/>
              </a:defRPr>
            </a:pPr>
            <a:r>
              <a:rPr sz="1200" b="0" i="0" u="none" strike="noStrike">
                <a:solidFill>
                  <a:srgbClr val="000000"/>
                </a:solidFill>
                <a:latin typeface="Calibri"/>
              </a:rPr>
              <a:t>Total route time by problem size (lower is better)</a:t>
            </a:r>
          </a:p>
        </c:rich>
      </c:tx>
      <c:layout/>
      <c:overlay val="0"/>
    </c:title>
    <c:autoTitleDeleted val="0"/>
    <c:plotArea>
      <c:layout/>
      <c:barChart>
        <c:barDir val="col"/>
        <c:grouping val="clustered"/>
        <c:varyColors val="0"/>
        <c:ser>
          <c:idx val="0"/>
          <c:order val="0"/>
          <c:tx>
            <c:strRef>
              <c:f>Sheet1!$B$1</c:f>
              <c:strCache>
                <c:ptCount val="1"/>
                <c:pt idx="0">
                  <c:v>Classical (2-opt)</c:v>
                </c:pt>
              </c:strCache>
            </c:strRef>
          </c:tx>
          <c:spPr>
            <a:solidFill>
              <a:srgbClr val="475569"/>
            </a:solidFill>
            <a:effectLst/>
          </c:spPr>
          <c:invertIfNegative val="0"/>
          <c:dLbls>
            <c:numFmt formatCode="#,##0" sourceLinked="0"/>
            <c:txPr>
              <a:bodyPr/>
              <a:lstStyle/>
              <a:p>
                <a:pPr>
                  <a:defRPr b="0" i="0" strike="noStrike" sz="1200" u="none">
                    <a:solidFill>
                      <a:srgbClr val="475569"/>
                    </a:solidFill>
                    <a:latin typeface="Arial"/>
                  </a:defRPr>
                </a:pPr>
              </a:p>
            </c:txPr>
            <c:showLegendKey val="0"/>
            <c:showVal val="0"/>
            <c:showCatName val="0"/>
            <c:showSerName val="0"/>
            <c:showPercent val="0"/>
            <c:showBubbleSize val="0"/>
            <c:showLeaderLines val="0"/>
          </c:dLbls>
          <c:cat>
            <c:multiLvlStrRef>
              <c:f>Sheet1!$A$2:$A$6</c:f>
              <c:multiLvlStrCache>
                <c:ptCount val="5"/>
                <c:lvl>
                  <c:pt idx="0">
                    <c:v>6</c:v>
                  </c:pt>
                  <c:pt idx="1">
                    <c:v>8</c:v>
                  </c:pt>
                  <c:pt idx="2">
                    <c:v>10</c:v>
                  </c:pt>
                  <c:pt idx="3">
                    <c:v>12</c:v>
                  </c:pt>
                  <c:pt idx="4">
                    <c:v>14</c:v>
                  </c:pt>
                </c:lvl>
              </c:multiLvlStrCache>
            </c:multiLvlStrRef>
          </c:cat>
          <c:val>
            <c:numRef>
              <c:f>Sheet1!$B$2:$B$6</c:f>
              <c:numCache>
                <c:formatCode>General</c:formatCode>
                <c:ptCount val="5"/>
                <c:pt idx="0">
                  <c:v>186.7</c:v>
                </c:pt>
                <c:pt idx="1">
                  <c:v>186.7</c:v>
                </c:pt>
                <c:pt idx="2">
                  <c:v>260.6</c:v>
                </c:pt>
                <c:pt idx="3">
                  <c:v>412.3</c:v>
                </c:pt>
                <c:pt idx="4">
                  <c:v>538</c:v>
                </c:pt>
              </c:numCache>
            </c:numRef>
          </c:val>
        </c:ser>
        <c:ser>
          <c:idx val="1"/>
          <c:order val="1"/>
          <c:tx>
            <c:strRef>
              <c:f>Sheet1!$C$1</c:f>
              <c:strCache>
                <c:ptCount val="1"/>
                <c:pt idx="0">
                  <c:v>Quantum-inspired (QUBO+SA)</c:v>
                </c:pt>
              </c:strCache>
            </c:strRef>
          </c:tx>
          <c:spPr>
            <a:solidFill>
              <a:srgbClr val="7C3AED"/>
            </a:solidFill>
            <a:effectLst/>
          </c:spPr>
          <c:invertIfNegative val="0"/>
          <c:dLbls>
            <c:numFmt formatCode="#,##0" sourceLinked="0"/>
            <c:txPr>
              <a:bodyPr/>
              <a:lstStyle/>
              <a:p>
                <a:pPr>
                  <a:defRPr b="0" i="0" strike="noStrike" sz="1200" u="none">
                    <a:solidFill>
                      <a:srgbClr val="475569"/>
                    </a:solidFill>
                    <a:latin typeface="Arial"/>
                  </a:defRPr>
                </a:pPr>
              </a:p>
            </c:txPr>
            <c:showLegendKey val="0"/>
            <c:showVal val="0"/>
            <c:showCatName val="0"/>
            <c:showSerName val="0"/>
            <c:showPercent val="0"/>
            <c:showBubbleSize val="0"/>
            <c:showLeaderLines val="0"/>
          </c:dLbls>
          <c:cat>
            <c:multiLvlStrRef>
              <c:f>Sheet1!$A$2:$A$6</c:f>
              <c:multiLvlStrCache>
                <c:ptCount val="5"/>
                <c:lvl>
                  <c:pt idx="0">
                    <c:v>6</c:v>
                  </c:pt>
                  <c:pt idx="1">
                    <c:v>8</c:v>
                  </c:pt>
                  <c:pt idx="2">
                    <c:v>10</c:v>
                  </c:pt>
                  <c:pt idx="3">
                    <c:v>12</c:v>
                  </c:pt>
                  <c:pt idx="4">
                    <c:v>14</c:v>
                  </c:pt>
                </c:lvl>
              </c:multiLvlStrCache>
            </c:multiLvlStrRef>
          </c:cat>
          <c:val>
            <c:numRef>
              <c:f>Sheet1!$C$2:$C$6</c:f>
              <c:numCache>
                <c:formatCode>General</c:formatCode>
                <c:ptCount val="5"/>
                <c:pt idx="0">
                  <c:v>186.7</c:v>
                </c:pt>
                <c:pt idx="1">
                  <c:v>220.2</c:v>
                </c:pt>
                <c:pt idx="2">
                  <c:v>301.7</c:v>
                </c:pt>
                <c:pt idx="3">
                  <c:v>561.7</c:v>
                </c:pt>
                <c:pt idx="4">
                  <c:v>725.8</c:v>
                </c:pt>
              </c:numCache>
            </c:numRef>
          </c:val>
        </c:ser>
        <c:ser>
          <c:idx val="2"/>
          <c:order val="2"/>
          <c:tx>
            <c:strRef>
              <c:f>Sheet1!$D$1</c:f>
              <c:strCache>
                <c:ptCount val="1"/>
                <c:pt idx="0">
                  <c:v>Google OR-Tools</c:v>
                </c:pt>
              </c:strCache>
            </c:strRef>
          </c:tx>
          <c:spPr>
            <a:solidFill>
              <a:srgbClr val="22C55E"/>
            </a:solidFill>
            <a:effectLst/>
          </c:spPr>
          <c:invertIfNegative val="0"/>
          <c:dLbls>
            <c:numFmt formatCode="#,##0" sourceLinked="0"/>
            <c:txPr>
              <a:bodyPr/>
              <a:lstStyle/>
              <a:p>
                <a:pPr>
                  <a:defRPr b="0" i="0" strike="noStrike" sz="1200" u="none">
                    <a:solidFill>
                      <a:srgbClr val="475569"/>
                    </a:solidFill>
                    <a:latin typeface="Arial"/>
                  </a:defRPr>
                </a:pPr>
              </a:p>
            </c:txPr>
            <c:showLegendKey val="0"/>
            <c:showVal val="0"/>
            <c:showCatName val="0"/>
            <c:showSerName val="0"/>
            <c:showPercent val="0"/>
            <c:showBubbleSize val="0"/>
            <c:showLeaderLines val="0"/>
          </c:dLbls>
          <c:cat>
            <c:multiLvlStrRef>
              <c:f>Sheet1!$A$2:$A$6</c:f>
              <c:multiLvlStrCache>
                <c:ptCount val="5"/>
                <c:lvl>
                  <c:pt idx="0">
                    <c:v>6</c:v>
                  </c:pt>
                  <c:pt idx="1">
                    <c:v>8</c:v>
                  </c:pt>
                  <c:pt idx="2">
                    <c:v>10</c:v>
                  </c:pt>
                  <c:pt idx="3">
                    <c:v>12</c:v>
                  </c:pt>
                  <c:pt idx="4">
                    <c:v>14</c:v>
                  </c:pt>
                </c:lvl>
              </c:multiLvlStrCache>
            </c:multiLvlStrRef>
          </c:cat>
          <c:val>
            <c:numRef>
              <c:f>Sheet1!$D$2:$D$6</c:f>
              <c:numCache>
                <c:formatCode>General</c:formatCode>
                <c:ptCount val="5"/>
                <c:pt idx="0">
                  <c:v>186.7</c:v>
                </c:pt>
                <c:pt idx="1">
                  <c:v>186.7</c:v>
                </c:pt>
                <c:pt idx="2">
                  <c:v>260.6</c:v>
                </c:pt>
                <c:pt idx="3">
                  <c:v>412.3</c:v>
                </c:pt>
                <c:pt idx="4">
                  <c:v>538</c:v>
                </c:pt>
              </c:numCache>
            </c:numRef>
          </c:val>
        </c:ser>
        <c:dLbls>
          <c:numFmt formatCode="#,##0" sourceLinked="0"/>
          <c:txPr>
            <a:bodyPr/>
            <a:lstStyle/>
            <a:p>
              <a:pPr>
                <a:defRPr b="0" i="0" strike="noStrike" sz="1200" u="none">
                  <a:solidFill>
                    <a:srgbClr val="475569"/>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answers: classical 2-opt beats our QUBO on PLAIN routing and we say so on slide 5 — the real claim is Experiment 2 (constraint satisfaction by construction). QAOA and real D-Wave hardware are both demonstrated via run_qaoa_demo.py and run_on_real_quantum_hardware.py, not just claimed. Analytics/OR-Tools/QAOA are all optional dependencies with graceful degradation — see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7C3AED">
              <a:alpha val="22000"/>
            </a:srgbClr>
          </a:solidFill>
          <a:ln/>
        </p:spPr>
      </p:sp>
      <p:sp>
        <p:nvSpPr>
          <p:cNvPr id="3" name="Shape 1"/>
          <p:cNvSpPr/>
          <p:nvPr/>
        </p:nvSpPr>
        <p:spPr>
          <a:xfrm>
            <a:off x="10241280" y="3291840"/>
            <a:ext cx="4206240" cy="4206240"/>
          </a:xfrm>
          <a:prstGeom prst="ellipse">
            <a:avLst/>
          </a:prstGeom>
          <a:solidFill>
            <a:srgbClr val="22D3EE">
              <a:alpha val="18000"/>
            </a:srgbClr>
          </a:solidFill>
          <a:ln/>
        </p:spPr>
      </p:sp>
      <p:sp>
        <p:nvSpPr>
          <p:cNvPr id="4" name="Text 2"/>
          <p:cNvSpPr txBox="1"/>
          <p:nvPr/>
        </p:nvSpPr>
        <p:spPr>
          <a:xfrm>
            <a:off x="822960" y="1371600"/>
            <a:ext cx="8229600" cy="457200"/>
          </a:xfrm>
          <a:prstGeom prst="rect">
            <a:avLst/>
          </a:prstGeom>
          <a:noFill/>
          <a:ln/>
        </p:spPr>
        <p:txBody>
          <a:bodyPr wrap="square" rtlCol="0" anchor="ctr"/>
          <a:lstStyle/>
          <a:p>
            <a:pPr indent="0" marL="0">
              <a:buNone/>
            </a:pPr>
            <a:r>
              <a:rPr lang="en-US" sz="1400" b="1" spc="200" kern="0" dirty="0">
                <a:solidFill>
                  <a:srgbClr val="22D3EE"/>
                </a:solidFill>
                <a:latin typeface="Calibri" pitchFamily="34" charset="0"/>
                <a:ea typeface="Calibri" pitchFamily="34" charset="-122"/>
                <a:cs typeface="Calibri" pitchFamily="34" charset="-120"/>
              </a:rPr>
              <a:t>SIH 2026  ·  PROBLEM STATEMENT 26137</a:t>
            </a:r>
            <a:endParaRPr lang="en-US" sz="1400" dirty="0"/>
          </a:p>
        </p:txBody>
      </p:sp>
      <p:sp>
        <p:nvSpPr>
          <p:cNvPr id="5" name="Text 3"/>
          <p:cNvSpPr txBox="1"/>
          <p:nvPr/>
        </p:nvSpPr>
        <p:spPr>
          <a:xfrm>
            <a:off x="777240" y="1874520"/>
            <a:ext cx="9601200" cy="1920240"/>
          </a:xfrm>
          <a:prstGeom prst="rect">
            <a:avLst/>
          </a:prstGeom>
          <a:noFill/>
          <a:ln/>
        </p:spPr>
        <p:txBody>
          <a:bodyPr wrap="square"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Quantum-Inspired Traffic</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Route Optimization</a:t>
            </a:r>
            <a:endParaRPr lang="en-US" sz="4400" dirty="0"/>
          </a:p>
        </p:txBody>
      </p:sp>
      <p:sp>
        <p:nvSpPr>
          <p:cNvPr id="6" name="Text 4"/>
          <p:cNvSpPr txBox="1"/>
          <p:nvPr/>
        </p:nvSpPr>
        <p:spPr>
          <a:xfrm>
            <a:off x="822960" y="3794760"/>
            <a:ext cx="7863840" cy="1188720"/>
          </a:xfrm>
          <a:prstGeom prst="rect">
            <a:avLst/>
          </a:prstGeom>
          <a:noFill/>
          <a:ln/>
        </p:spPr>
        <p:txBody>
          <a:bodyPr wrap="square" rtlCol="0" anchor="ctr"/>
          <a:lstStyle/>
          <a:p>
            <a:pPr indent="0" marL="0">
              <a:lnSpc>
                <a:spcPct val="125000"/>
              </a:lnSpc>
              <a:buNone/>
            </a:pPr>
            <a:r>
              <a:rPr lang="en-US" sz="1500" dirty="0">
                <a:solidFill>
                  <a:srgbClr val="C7D2FE"/>
                </a:solidFill>
                <a:latin typeface="Calibri" pitchFamily="34" charset="0"/>
                <a:ea typeface="Calibri" pitchFamily="34" charset="-122"/>
                <a:cs typeface="Calibri" pitchFamily="34" charset="-120"/>
              </a:rPr>
              <a:t>A live, click-anywhere route optimizer that reformulates “what order should I visit these stops in” as a QUBO and solves it the way quantum annealers and gate-based quantum circuits do — benchmarked honestly against classical heuristics and Google's own production solver, not just claimed.</a:t>
            </a:r>
            <a:endParaRPr lang="en-US" sz="1500" dirty="0"/>
          </a:p>
        </p:txBody>
      </p:sp>
      <p:sp>
        <p:nvSpPr>
          <p:cNvPr id="7" name="Text 5"/>
          <p:cNvSpPr txBox="1"/>
          <p:nvPr/>
        </p:nvSpPr>
        <p:spPr>
          <a:xfrm>
            <a:off x="822960" y="5989320"/>
            <a:ext cx="6400800" cy="365760"/>
          </a:xfrm>
          <a:prstGeom prst="rect">
            <a:avLst/>
          </a:prstGeom>
          <a:noFill/>
          <a:ln/>
        </p:spPr>
        <p:txBody>
          <a:bodyPr wrap="square"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Live demo: traffic-router.onrender.com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65760"/>
          </a:xfrm>
          <a:prstGeom prst="rect">
            <a:avLst/>
          </a:prstGeom>
          <a:noFill/>
          <a:ln/>
        </p:spPr>
        <p:txBody>
          <a:bodyPr wrap="square" rtlCol="0" anchor="ctr"/>
          <a:lstStyle/>
          <a:p>
            <a:pPr indent="0" marL="0">
              <a:buNone/>
            </a:pPr>
            <a:r>
              <a:rPr lang="en-US" sz="1300" b="1" spc="200" kern="0" dirty="0">
                <a:solidFill>
                  <a:srgbClr val="7C3AED"/>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640080"/>
            <a:ext cx="10789920" cy="822960"/>
          </a:xfrm>
          <a:prstGeom prst="rect">
            <a:avLst/>
          </a:prstGeom>
          <a:noFill/>
          <a:ln/>
        </p:spPr>
        <p:txBody>
          <a:bodyPr wrap="square" rtlCol="0" anchor="ctr"/>
          <a:lstStyle/>
          <a:p>
            <a:pPr indent="0" marL="0">
              <a:buNone/>
            </a:pPr>
            <a:r>
              <a:rPr lang="en-US" sz="3200" b="1" dirty="0">
                <a:solidFill>
                  <a:srgbClr val="1E1B4B"/>
                </a:solidFill>
                <a:latin typeface="Cambria" pitchFamily="34" charset="0"/>
                <a:ea typeface="Cambria" pitchFamily="34" charset="-122"/>
                <a:cs typeface="Cambria" pitchFamily="34" charset="-120"/>
              </a:rPr>
              <a:t>Visiting order is the hard part — not point-to-point directions</a:t>
            </a:r>
            <a:endParaRPr lang="en-US" sz="3200" dirty="0"/>
          </a:p>
        </p:txBody>
      </p:sp>
      <p:sp>
        <p:nvSpPr>
          <p:cNvPr id="4" name="Text 2"/>
          <p:cNvSpPr txBox="1"/>
          <p:nvPr/>
        </p:nvSpPr>
        <p:spPr>
          <a:xfrm>
            <a:off x="548640" y="1737360"/>
            <a:ext cx="6126480" cy="1463040"/>
          </a:xfrm>
          <a:prstGeom prst="rect">
            <a:avLst/>
          </a:prstGeom>
          <a:noFill/>
          <a:ln/>
        </p:spPr>
        <p:txBody>
          <a:bodyPr wrap="square" rtlCol="0" anchor="ctr"/>
          <a:lstStyle/>
          <a:p>
            <a:pPr indent="0" marL="0">
              <a:lnSpc>
                <a:spcPct val="130000"/>
              </a:lnSpc>
              <a:buNone/>
            </a:pPr>
            <a:r>
              <a:rPr lang="en-US" sz="1600" dirty="0">
                <a:solidFill>
                  <a:srgbClr val="475569"/>
                </a:solidFill>
                <a:latin typeface="Calibri" pitchFamily="34" charset="0"/>
                <a:ea typeface="Calibri" pitchFamily="34" charset="-122"/>
                <a:cs typeface="Calibri" pitchFamily="34" charset="-120"/>
              </a:rPr>
              <a:t>A delivery van with 8 stops has </a:t>
            </a:r>
            <a:pPr indent="0" marL="0">
              <a:lnSpc>
                <a:spcPct val="130000"/>
              </a:lnSpc>
              <a:buNone/>
            </a:pPr>
            <a:r>
              <a:rPr lang="en-US" sz="1600" b="1" dirty="0">
                <a:solidFill>
                  <a:srgbClr val="7C3AED"/>
                </a:solidFill>
                <a:latin typeface="Calibri" pitchFamily="34" charset="0"/>
                <a:ea typeface="Calibri" pitchFamily="34" charset="-122"/>
                <a:cs typeface="Calibri" pitchFamily="34" charset="-120"/>
              </a:rPr>
              <a:t>40,320</a:t>
            </a:r>
            <a:pPr indent="0" marL="0">
              <a:lnSpc>
                <a:spcPct val="130000"/>
              </a:lnSpc>
              <a:buNone/>
            </a:pPr>
            <a:r>
              <a:rPr lang="en-US" sz="1600" dirty="0">
                <a:solidFill>
                  <a:srgbClr val="475569"/>
                </a:solidFill>
                <a:latin typeface="Calibri" pitchFamily="34" charset="0"/>
                <a:ea typeface="Calibri" pitchFamily="34" charset="-122"/>
                <a:cs typeface="Calibri" pitchFamily="34" charset="-120"/>
              </a:rPr>
              <a:t> possible visiting orders — picking badly wastes real fuel and time. This is the Traveling Salesman Problem, and it stays hard as stop counts grow.</a:t>
            </a:r>
            <a:endParaRPr lang="en-US" sz="1600" dirty="0"/>
          </a:p>
        </p:txBody>
      </p:sp>
      <p:sp>
        <p:nvSpPr>
          <p:cNvPr id="5" name="Text 3"/>
          <p:cNvSpPr txBox="1"/>
          <p:nvPr/>
        </p:nvSpPr>
        <p:spPr>
          <a:xfrm>
            <a:off x="548640" y="3246120"/>
            <a:ext cx="6126480" cy="1371600"/>
          </a:xfrm>
          <a:prstGeom prst="rect">
            <a:avLst/>
          </a:prstGeom>
          <a:noFill/>
          <a:ln/>
        </p:spPr>
        <p:txBody>
          <a:bodyPr wrap="square" rtlCol="0" anchor="ctr"/>
          <a:lstStyle/>
          <a:p>
            <a:pPr indent="0" marL="0">
              <a:lnSpc>
                <a:spcPct val="130000"/>
              </a:lnSpc>
              <a:buNone/>
            </a:pPr>
            <a:r>
              <a:rPr lang="en-US" sz="1600" dirty="0">
                <a:solidFill>
                  <a:srgbClr val="475569"/>
                </a:solidFill>
                <a:latin typeface="Calibri" pitchFamily="34" charset="0"/>
                <a:ea typeface="Calibri" pitchFamily="34" charset="-122"/>
                <a:cs typeface="Calibri" pitchFamily="34" charset="-120"/>
              </a:rPr>
              <a:t>And the best order at 9am often is not the best order at 6pm — real dispatch also has rules beyond “shortest path”: a pickup before its drop-off, a vehicle's carrying capacity, a stop that must happen before a cutoff.</a:t>
            </a:r>
            <a:endParaRPr lang="en-US" sz="1600" dirty="0"/>
          </a:p>
        </p:txBody>
      </p:sp>
      <p:sp>
        <p:nvSpPr>
          <p:cNvPr id="6" name="Shape 4"/>
          <p:cNvSpPr/>
          <p:nvPr/>
        </p:nvSpPr>
        <p:spPr>
          <a:xfrm>
            <a:off x="7178040" y="1737360"/>
            <a:ext cx="4480560" cy="4297680"/>
          </a:xfrm>
          <a:prstGeom prst="roundRect">
            <a:avLst>
              <a:gd name="adj" fmla="val 2553"/>
            </a:avLst>
          </a:prstGeom>
          <a:solidFill>
            <a:srgbClr val="1E1B4B"/>
          </a:solidFill>
          <a:ln/>
          <a:effectLst>
            <a:outerShdw sx="100000" sy="100000" kx="0" ky="0" algn="bl" rotWithShape="0" blurRad="76200" dist="38100" dir="5400000">
              <a:srgbClr val="0F172A">
                <a:alpha val="25000"/>
              </a:srgbClr>
            </a:outerShdw>
          </a:effectLst>
        </p:spPr>
      </p:sp>
      <p:sp>
        <p:nvSpPr>
          <p:cNvPr id="7" name="Text 5"/>
          <p:cNvSpPr txBox="1"/>
          <p:nvPr/>
        </p:nvSpPr>
        <p:spPr>
          <a:xfrm>
            <a:off x="7178040" y="2148840"/>
            <a:ext cx="4480560" cy="1188720"/>
          </a:xfrm>
          <a:prstGeom prst="rect">
            <a:avLst/>
          </a:prstGeom>
          <a:noFill/>
          <a:ln/>
        </p:spPr>
        <p:txBody>
          <a:bodyPr wrap="square" rtlCol="0" anchor="ctr"/>
          <a:lstStyle/>
          <a:p>
            <a:pPr algn="ctr" indent="0" marL="0">
              <a:buNone/>
            </a:pPr>
            <a:r>
              <a:rPr lang="en-US" sz="6000" b="1" dirty="0">
                <a:solidFill>
                  <a:srgbClr val="22D3EE"/>
                </a:solidFill>
                <a:latin typeface="Cambria" pitchFamily="34" charset="0"/>
                <a:ea typeface="Cambria" pitchFamily="34" charset="-122"/>
                <a:cs typeface="Cambria" pitchFamily="34" charset="-120"/>
              </a:rPr>
              <a:t>8</a:t>
            </a:r>
            <a:endParaRPr lang="en-US" sz="6000" dirty="0"/>
          </a:p>
        </p:txBody>
      </p:sp>
      <p:sp>
        <p:nvSpPr>
          <p:cNvPr id="8" name="Text 6"/>
          <p:cNvSpPr txBox="1"/>
          <p:nvPr/>
        </p:nvSpPr>
        <p:spPr>
          <a:xfrm>
            <a:off x="7178040" y="3246120"/>
            <a:ext cx="4480560" cy="731520"/>
          </a:xfrm>
          <a:prstGeom prst="rect">
            <a:avLst/>
          </a:prstGeom>
          <a:noFill/>
          <a:ln/>
        </p:spPr>
        <p:txBody>
          <a:bodyPr wrap="square" rtlCol="0" anchor="ctr"/>
          <a:lstStyle/>
          <a:p>
            <a:pPr algn="ctr" indent="0" marL="0">
              <a:lnSpc>
                <a:spcPct val="120000"/>
              </a:lnSpc>
              <a:buNone/>
            </a:pPr>
            <a:r>
              <a:rPr lang="en-US" sz="1300" dirty="0">
                <a:solidFill>
                  <a:srgbClr val="C7D2FE"/>
                </a:solidFill>
                <a:latin typeface="Calibri" pitchFamily="34" charset="0"/>
                <a:ea typeface="Calibri" pitchFamily="34" charset="-122"/>
                <a:cs typeface="Calibri" pitchFamily="34" charset="-120"/>
              </a:rPr>
              <a:t>interior stops in one of</a:t>
            </a:r>
            <a:endParaRPr lang="en-US" sz="1300" dirty="0"/>
          </a:p>
          <a:p>
            <a:pPr algn="ctr" indent="0" marL="0">
              <a:lnSpc>
                <a:spcPct val="120000"/>
              </a:lnSpc>
              <a:buNone/>
            </a:pPr>
            <a:r>
              <a:rPr lang="en-US" sz="1300" dirty="0">
                <a:solidFill>
                  <a:srgbClr val="C7D2FE"/>
                </a:solidFill>
                <a:latin typeface="Calibri" pitchFamily="34" charset="0"/>
                <a:ea typeface="Calibri" pitchFamily="34" charset="-122"/>
                <a:cs typeface="Calibri" pitchFamily="34" charset="-120"/>
              </a:rPr>
              <a:t>our own benchmark routes</a:t>
            </a:r>
            <a:endParaRPr lang="en-US" sz="1300" dirty="0"/>
          </a:p>
        </p:txBody>
      </p:sp>
      <p:sp>
        <p:nvSpPr>
          <p:cNvPr id="9" name="Shape 7"/>
          <p:cNvSpPr/>
          <p:nvPr/>
        </p:nvSpPr>
        <p:spPr>
          <a:xfrm>
            <a:off x="7818120" y="4160520"/>
            <a:ext cx="3200400" cy="0"/>
          </a:xfrm>
          <a:prstGeom prst="line">
            <a:avLst/>
          </a:prstGeom>
          <a:noFill/>
          <a:ln w="12700">
            <a:solidFill>
              <a:srgbClr val="3730A3"/>
            </a:solidFill>
            <a:prstDash val="solid"/>
          </a:ln>
        </p:spPr>
      </p:sp>
      <p:sp>
        <p:nvSpPr>
          <p:cNvPr id="10" name="Text 8"/>
          <p:cNvSpPr txBox="1"/>
          <p:nvPr/>
        </p:nvSpPr>
        <p:spPr>
          <a:xfrm>
            <a:off x="7178040" y="4343400"/>
            <a:ext cx="4480560" cy="914400"/>
          </a:xfrm>
          <a:prstGeom prst="rect">
            <a:avLst/>
          </a:prstGeom>
          <a:noFill/>
          <a:ln/>
        </p:spPr>
        <p:txBody>
          <a:bodyPr wrap="square" rtlCol="0" anchor="ctr"/>
          <a:lstStyle/>
          <a:p>
            <a:pPr algn="ctr" indent="0" marL="0">
              <a:buNone/>
            </a:pPr>
            <a:r>
              <a:rPr lang="en-US" sz="4000" b="1" dirty="0">
                <a:solidFill>
                  <a:srgbClr val="7C3AED"/>
                </a:solidFill>
                <a:latin typeface="Cambria" pitchFamily="34" charset="0"/>
                <a:ea typeface="Cambria" pitchFamily="34" charset="-122"/>
                <a:cs typeface="Cambria" pitchFamily="34" charset="-120"/>
              </a:rPr>
              <a:t>40,320</a:t>
            </a:r>
            <a:endParaRPr lang="en-US" sz="4000" dirty="0"/>
          </a:p>
        </p:txBody>
      </p:sp>
      <p:sp>
        <p:nvSpPr>
          <p:cNvPr id="11" name="Text 9"/>
          <p:cNvSpPr txBox="1"/>
          <p:nvPr/>
        </p:nvSpPr>
        <p:spPr>
          <a:xfrm>
            <a:off x="7178040" y="5257800"/>
            <a:ext cx="4480560" cy="640080"/>
          </a:xfrm>
          <a:prstGeom prst="rect">
            <a:avLst/>
          </a:prstGeom>
          <a:noFill/>
          <a:ln/>
        </p:spPr>
        <p:txBody>
          <a:bodyPr wrap="square" rtlCol="0" anchor="ctr"/>
          <a:lstStyle/>
          <a:p>
            <a:pPr algn="ctr" indent="0" marL="0">
              <a:lnSpc>
                <a:spcPct val="120000"/>
              </a:lnSpc>
              <a:buNone/>
            </a:pPr>
            <a:r>
              <a:rPr lang="en-US" sz="1300" dirty="0">
                <a:solidFill>
                  <a:srgbClr val="C7D2FE"/>
                </a:solidFill>
                <a:latin typeface="Calibri" pitchFamily="34" charset="0"/>
                <a:ea typeface="Calibri" pitchFamily="34" charset="-122"/>
                <a:cs typeface="Calibri" pitchFamily="34" charset="-120"/>
              </a:rPr>
              <a:t>possible visiting orders (8!)</a:t>
            </a:r>
            <a:endParaRPr lang="en-US" sz="1300" dirty="0"/>
          </a:p>
          <a:p>
            <a:pPr algn="ctr" indent="0" marL="0">
              <a:lnSpc>
                <a:spcPct val="120000"/>
              </a:lnSpc>
              <a:buNone/>
            </a:pPr>
            <a:r>
              <a:rPr lang="en-US" sz="1300" dirty="0">
                <a:solidFill>
                  <a:srgbClr val="C7D2FE"/>
                </a:solidFill>
                <a:latin typeface="Calibri" pitchFamily="34" charset="0"/>
                <a:ea typeface="Calibri" pitchFamily="34" charset="-122"/>
                <a:cs typeface="Calibri" pitchFamily="34" charset="-120"/>
              </a:rPr>
              <a:t>to search for the best one</a:t>
            </a:r>
            <a:endParaRPr lang="en-US" sz="1300" dirty="0"/>
          </a:p>
        </p:txBody>
      </p:sp>
      <p:sp>
        <p:nvSpPr>
          <p:cNvPr id="12" name="Text 10"/>
          <p:cNvSpPr txBox="1"/>
          <p:nvPr/>
        </p:nvSpPr>
        <p:spPr>
          <a:xfrm>
            <a:off x="54864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Quantum-Inspired Traffic Router  ·  SIH26137</a:t>
            </a:r>
            <a:endParaRPr lang="en-US" sz="900" dirty="0"/>
          </a:p>
        </p:txBody>
      </p:sp>
      <p:sp>
        <p:nvSpPr>
          <p:cNvPr id="13" name="Text 11"/>
          <p:cNvSpPr txBox="1"/>
          <p:nvPr/>
        </p:nvSpPr>
        <p:spPr>
          <a:xfrm>
            <a:off x="11521440" y="6473952"/>
            <a:ext cx="365760"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65760"/>
          </a:xfrm>
          <a:prstGeom prst="rect">
            <a:avLst/>
          </a:prstGeom>
          <a:noFill/>
          <a:ln/>
        </p:spPr>
        <p:txBody>
          <a:bodyPr wrap="square" rtlCol="0" anchor="ctr"/>
          <a:lstStyle/>
          <a:p>
            <a:pPr indent="0" marL="0">
              <a:buNone/>
            </a:pPr>
            <a:r>
              <a:rPr lang="en-US" sz="1300" b="1" spc="200" kern="0" dirty="0">
                <a:solidFill>
                  <a:srgbClr val="7C3AED"/>
                </a:solidFill>
                <a:latin typeface="Calibri" pitchFamily="34" charset="0"/>
                <a:ea typeface="Calibri" pitchFamily="34" charset="-122"/>
                <a:cs typeface="Calibri" pitchFamily="34" charset="-120"/>
              </a:rPr>
              <a:t>HOW IT WORKS</a:t>
            </a:r>
            <a:endParaRPr lang="en-US" sz="1300" dirty="0"/>
          </a:p>
        </p:txBody>
      </p:sp>
      <p:sp>
        <p:nvSpPr>
          <p:cNvPr id="3" name="Text 1"/>
          <p:cNvSpPr txBox="1"/>
          <p:nvPr/>
        </p:nvSpPr>
        <p:spPr>
          <a:xfrm>
            <a:off x="548640" y="640080"/>
            <a:ext cx="10789920" cy="822960"/>
          </a:xfrm>
          <a:prstGeom prst="rect">
            <a:avLst/>
          </a:prstGeom>
          <a:noFill/>
          <a:ln/>
        </p:spPr>
        <p:txBody>
          <a:bodyPr wrap="square" rtlCol="0" anchor="ctr"/>
          <a:lstStyle/>
          <a:p>
            <a:pPr indent="0" marL="0">
              <a:buNone/>
            </a:pPr>
            <a:r>
              <a:rPr lang="en-US" sz="3200" b="1" dirty="0">
                <a:solidFill>
                  <a:srgbClr val="1E1B4B"/>
                </a:solidFill>
                <a:latin typeface="Cambria" pitchFamily="34" charset="0"/>
                <a:ea typeface="Cambria" pitchFamily="34" charset="-122"/>
                <a:cs typeface="Cambria" pitchFamily="34" charset="-120"/>
              </a:rPr>
              <a:t>Five steps, from a city map to a proven-better route</a:t>
            </a:r>
            <a:endParaRPr lang="en-US" sz="3200" dirty="0"/>
          </a:p>
        </p:txBody>
      </p:sp>
      <p:sp>
        <p:nvSpPr>
          <p:cNvPr id="4" name="Shape 2"/>
          <p:cNvSpPr/>
          <p:nvPr/>
        </p:nvSpPr>
        <p:spPr>
          <a:xfrm>
            <a:off x="548640" y="1828800"/>
            <a:ext cx="2121408" cy="4114800"/>
          </a:xfrm>
          <a:prstGeom prst="roundRect">
            <a:avLst>
              <a:gd name="adj" fmla="val 4310"/>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5" name="Shape 3"/>
          <p:cNvSpPr/>
          <p:nvPr/>
        </p:nvSpPr>
        <p:spPr>
          <a:xfrm>
            <a:off x="1335024" y="2103120"/>
            <a:ext cx="548640" cy="548640"/>
          </a:xfrm>
          <a:prstGeom prst="ellipse">
            <a:avLst/>
          </a:prstGeom>
          <a:solidFill>
            <a:srgbClr val="7C3AED"/>
          </a:solidFill>
          <a:ln/>
        </p:spPr>
      </p:sp>
      <p:sp>
        <p:nvSpPr>
          <p:cNvPr id="6" name="Text 4"/>
          <p:cNvSpPr txBox="1"/>
          <p:nvPr/>
        </p:nvSpPr>
        <p:spPr>
          <a:xfrm>
            <a:off x="1335024" y="2103120"/>
            <a:ext cx="5486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txBox="1"/>
          <p:nvPr/>
        </p:nvSpPr>
        <p:spPr>
          <a:xfrm>
            <a:off x="685800" y="2834640"/>
            <a:ext cx="1847088" cy="640080"/>
          </a:xfrm>
          <a:prstGeom prst="rect">
            <a:avLst/>
          </a:prstGeom>
          <a:noFill/>
          <a:ln/>
        </p:spPr>
        <p:txBody>
          <a:bodyPr wrap="square" rtlCol="0" anchor="ctr"/>
          <a:lstStyle/>
          <a:p>
            <a:pPr algn="ctr" indent="0" marL="0">
              <a:buNone/>
            </a:pPr>
            <a:r>
              <a:rPr lang="en-US" sz="1500" b="1" dirty="0">
                <a:solidFill>
                  <a:srgbClr val="1E1B4B"/>
                </a:solidFill>
                <a:latin typeface="Cambria" pitchFamily="34" charset="0"/>
                <a:ea typeface="Cambria" pitchFamily="34" charset="-122"/>
                <a:cs typeface="Cambria" pitchFamily="34" charset="-120"/>
              </a:rPr>
              <a:t>Get the map</a:t>
            </a:r>
            <a:endParaRPr lang="en-US" sz="1500" dirty="0"/>
          </a:p>
        </p:txBody>
      </p:sp>
      <p:sp>
        <p:nvSpPr>
          <p:cNvPr id="8" name="Text 6"/>
          <p:cNvSpPr txBox="1"/>
          <p:nvPr/>
        </p:nvSpPr>
        <p:spPr>
          <a:xfrm>
            <a:off x="731520" y="3474720"/>
            <a:ext cx="1755648" cy="2286000"/>
          </a:xfrm>
          <a:prstGeom prst="rect">
            <a:avLst/>
          </a:prstGeom>
          <a:noFill/>
          <a:ln/>
        </p:spPr>
        <p:txBody>
          <a:bodyPr wrap="square" rtlCol="0" anchor="ctr"/>
          <a:lstStyle/>
          <a:p>
            <a:pPr algn="ctr" indent="0" marL="0">
              <a:lnSpc>
                <a:spcPct val="125000"/>
              </a:lnSpc>
              <a:buNone/>
            </a:pPr>
            <a:r>
              <a:rPr lang="en-US" sz="1150" dirty="0">
                <a:solidFill>
                  <a:srgbClr val="475569"/>
                </a:solidFill>
                <a:latin typeface="Calibri" pitchFamily="34" charset="0"/>
                <a:ea typeface="Calibri" pitchFamily="34" charset="-122"/>
                <a:cs typeface="Calibri" pitchFamily="34" charset="-120"/>
              </a:rPr>
              <a:t>A real road network for the city — click anywhere, live in the browser.</a:t>
            </a:r>
            <a:endParaRPr lang="en-US" sz="1150" dirty="0"/>
          </a:p>
        </p:txBody>
      </p:sp>
      <p:sp>
        <p:nvSpPr>
          <p:cNvPr id="9" name="Shape 7"/>
          <p:cNvSpPr/>
          <p:nvPr/>
        </p:nvSpPr>
        <p:spPr>
          <a:xfrm>
            <a:off x="2743200" y="1828800"/>
            <a:ext cx="2121408" cy="4114800"/>
          </a:xfrm>
          <a:prstGeom prst="roundRect">
            <a:avLst>
              <a:gd name="adj" fmla="val 4310"/>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10" name="Shape 8"/>
          <p:cNvSpPr/>
          <p:nvPr/>
        </p:nvSpPr>
        <p:spPr>
          <a:xfrm>
            <a:off x="3529584" y="2103120"/>
            <a:ext cx="548640" cy="548640"/>
          </a:xfrm>
          <a:prstGeom prst="ellipse">
            <a:avLst/>
          </a:prstGeom>
          <a:solidFill>
            <a:srgbClr val="7C3AED"/>
          </a:solidFill>
          <a:ln/>
        </p:spPr>
      </p:sp>
      <p:sp>
        <p:nvSpPr>
          <p:cNvPr id="11" name="Text 9"/>
          <p:cNvSpPr txBox="1"/>
          <p:nvPr/>
        </p:nvSpPr>
        <p:spPr>
          <a:xfrm>
            <a:off x="3529584" y="2103120"/>
            <a:ext cx="5486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10"/>
          <p:cNvSpPr txBox="1"/>
          <p:nvPr/>
        </p:nvSpPr>
        <p:spPr>
          <a:xfrm>
            <a:off x="2880360" y="2834640"/>
            <a:ext cx="1847088" cy="640080"/>
          </a:xfrm>
          <a:prstGeom prst="rect">
            <a:avLst/>
          </a:prstGeom>
          <a:noFill/>
          <a:ln/>
        </p:spPr>
        <p:txBody>
          <a:bodyPr wrap="square" rtlCol="0" anchor="ctr"/>
          <a:lstStyle/>
          <a:p>
            <a:pPr algn="ctr" indent="0" marL="0">
              <a:buNone/>
            </a:pPr>
            <a:r>
              <a:rPr lang="en-US" sz="1500" b="1" dirty="0">
                <a:solidFill>
                  <a:srgbClr val="1E1B4B"/>
                </a:solidFill>
                <a:latin typeface="Cambria" pitchFamily="34" charset="0"/>
                <a:ea typeface="Cambria" pitchFamily="34" charset="-122"/>
                <a:cs typeface="Cambria" pitchFamily="34" charset="-120"/>
              </a:rPr>
              <a:t>Add traffic</a:t>
            </a:r>
            <a:endParaRPr lang="en-US" sz="1500" dirty="0"/>
          </a:p>
        </p:txBody>
      </p:sp>
      <p:sp>
        <p:nvSpPr>
          <p:cNvPr id="13" name="Text 11"/>
          <p:cNvSpPr txBox="1"/>
          <p:nvPr/>
        </p:nvSpPr>
        <p:spPr>
          <a:xfrm>
            <a:off x="2926080" y="3474720"/>
            <a:ext cx="1755648" cy="2286000"/>
          </a:xfrm>
          <a:prstGeom prst="rect">
            <a:avLst/>
          </a:prstGeom>
          <a:noFill/>
          <a:ln/>
        </p:spPr>
        <p:txBody>
          <a:bodyPr wrap="square" rtlCol="0" anchor="ctr"/>
          <a:lstStyle/>
          <a:p>
            <a:pPr algn="ctr" indent="0" marL="0">
              <a:lnSpc>
                <a:spcPct val="125000"/>
              </a:lnSpc>
              <a:buNone/>
            </a:pPr>
            <a:r>
              <a:rPr lang="en-US" sz="1150" dirty="0">
                <a:solidFill>
                  <a:srgbClr val="475569"/>
                </a:solidFill>
                <a:latin typeface="Calibri" pitchFamily="34" charset="0"/>
                <a:ea typeface="Calibri" pitchFamily="34" charset="-122"/>
                <a:cs typeface="Calibri" pitchFamily="34" charset="-120"/>
              </a:rPr>
              <a:t>Travel times stretch by time of day; an incident can spike one road on demand.</a:t>
            </a:r>
            <a:endParaRPr lang="en-US" sz="1150" dirty="0"/>
          </a:p>
        </p:txBody>
      </p:sp>
      <p:sp>
        <p:nvSpPr>
          <p:cNvPr id="14" name="Shape 12"/>
          <p:cNvSpPr/>
          <p:nvPr/>
        </p:nvSpPr>
        <p:spPr>
          <a:xfrm>
            <a:off x="4937760" y="1828800"/>
            <a:ext cx="2121408" cy="4114800"/>
          </a:xfrm>
          <a:prstGeom prst="roundRect">
            <a:avLst>
              <a:gd name="adj" fmla="val 4310"/>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15" name="Shape 13"/>
          <p:cNvSpPr/>
          <p:nvPr/>
        </p:nvSpPr>
        <p:spPr>
          <a:xfrm>
            <a:off x="5724144" y="2103120"/>
            <a:ext cx="548640" cy="548640"/>
          </a:xfrm>
          <a:prstGeom prst="ellipse">
            <a:avLst/>
          </a:prstGeom>
          <a:solidFill>
            <a:srgbClr val="7C3AED"/>
          </a:solidFill>
          <a:ln/>
        </p:spPr>
      </p:sp>
      <p:sp>
        <p:nvSpPr>
          <p:cNvPr id="16" name="Text 14"/>
          <p:cNvSpPr txBox="1"/>
          <p:nvPr/>
        </p:nvSpPr>
        <p:spPr>
          <a:xfrm>
            <a:off x="5724144" y="2103120"/>
            <a:ext cx="5486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7" name="Text 15"/>
          <p:cNvSpPr txBox="1"/>
          <p:nvPr/>
        </p:nvSpPr>
        <p:spPr>
          <a:xfrm>
            <a:off x="5074920" y="2834640"/>
            <a:ext cx="1847088" cy="640080"/>
          </a:xfrm>
          <a:prstGeom prst="rect">
            <a:avLst/>
          </a:prstGeom>
          <a:noFill/>
          <a:ln/>
        </p:spPr>
        <p:txBody>
          <a:bodyPr wrap="square" rtlCol="0" anchor="ctr"/>
          <a:lstStyle/>
          <a:p>
            <a:pPr algn="ctr" indent="0" marL="0">
              <a:buNone/>
            </a:pPr>
            <a:r>
              <a:rPr lang="en-US" sz="1500" b="1" dirty="0">
                <a:solidFill>
                  <a:srgbClr val="1E1B4B"/>
                </a:solidFill>
                <a:latin typeface="Cambria" pitchFamily="34" charset="0"/>
                <a:ea typeface="Cambria" pitchFamily="34" charset="-122"/>
                <a:cs typeface="Cambria" pitchFamily="34" charset="-120"/>
              </a:rPr>
              <a:t>Build the matrix</a:t>
            </a:r>
            <a:endParaRPr lang="en-US" sz="1500" dirty="0"/>
          </a:p>
        </p:txBody>
      </p:sp>
      <p:sp>
        <p:nvSpPr>
          <p:cNvPr id="18" name="Text 16"/>
          <p:cNvSpPr txBox="1"/>
          <p:nvPr/>
        </p:nvSpPr>
        <p:spPr>
          <a:xfrm>
            <a:off x="5120640" y="3474720"/>
            <a:ext cx="1755648" cy="2286000"/>
          </a:xfrm>
          <a:prstGeom prst="rect">
            <a:avLst/>
          </a:prstGeom>
          <a:noFill/>
          <a:ln/>
        </p:spPr>
        <p:txBody>
          <a:bodyPr wrap="square" rtlCol="0" anchor="ctr"/>
          <a:lstStyle/>
          <a:p>
            <a:pPr algn="ctr" indent="0" marL="0">
              <a:lnSpc>
                <a:spcPct val="125000"/>
              </a:lnSpc>
              <a:buNone/>
            </a:pPr>
            <a:r>
              <a:rPr lang="en-US" sz="1150" dirty="0">
                <a:solidFill>
                  <a:srgbClr val="475569"/>
                </a:solidFill>
                <a:latin typeface="Calibri" pitchFamily="34" charset="0"/>
                <a:ea typeface="Calibri" pitchFamily="34" charset="-122"/>
                <a:cs typeface="Calibri" pitchFamily="34" charset="-120"/>
              </a:rPr>
              <a:t>Collapse the map to just the pairwise travel times between your chosen stops.</a:t>
            </a:r>
            <a:endParaRPr lang="en-US" sz="1150" dirty="0"/>
          </a:p>
        </p:txBody>
      </p:sp>
      <p:sp>
        <p:nvSpPr>
          <p:cNvPr id="19" name="Shape 17"/>
          <p:cNvSpPr/>
          <p:nvPr/>
        </p:nvSpPr>
        <p:spPr>
          <a:xfrm>
            <a:off x="7132320" y="1828800"/>
            <a:ext cx="2121408" cy="4114800"/>
          </a:xfrm>
          <a:prstGeom prst="roundRect">
            <a:avLst>
              <a:gd name="adj" fmla="val 4310"/>
            </a:avLst>
          </a:prstGeom>
          <a:solidFill>
            <a:srgbClr val="1E1B4B"/>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20" name="Shape 18"/>
          <p:cNvSpPr/>
          <p:nvPr/>
        </p:nvSpPr>
        <p:spPr>
          <a:xfrm>
            <a:off x="7918704" y="2103120"/>
            <a:ext cx="548640" cy="548640"/>
          </a:xfrm>
          <a:prstGeom prst="ellipse">
            <a:avLst/>
          </a:prstGeom>
          <a:solidFill>
            <a:srgbClr val="22D3EE"/>
          </a:solidFill>
          <a:ln/>
        </p:spPr>
      </p:sp>
      <p:sp>
        <p:nvSpPr>
          <p:cNvPr id="21" name="Text 19"/>
          <p:cNvSpPr txBox="1"/>
          <p:nvPr/>
        </p:nvSpPr>
        <p:spPr>
          <a:xfrm>
            <a:off x="7918704" y="2103120"/>
            <a:ext cx="548640" cy="548640"/>
          </a:xfrm>
          <a:prstGeom prst="rect">
            <a:avLst/>
          </a:prstGeom>
          <a:noFill/>
          <a:ln/>
        </p:spPr>
        <p:txBody>
          <a:bodyPr wrap="square" rtlCol="0" anchor="ctr"/>
          <a:lstStyle/>
          <a:p>
            <a:pPr algn="ctr" indent="0" marL="0">
              <a:buNone/>
            </a:pPr>
            <a:r>
              <a:rPr lang="en-US" sz="2200" b="1" dirty="0">
                <a:solidFill>
                  <a:srgbClr val="1E1B4B"/>
                </a:solidFill>
                <a:latin typeface="Cambria" pitchFamily="34" charset="0"/>
                <a:ea typeface="Cambria" pitchFamily="34" charset="-122"/>
                <a:cs typeface="Cambria" pitchFamily="34" charset="-120"/>
              </a:rPr>
              <a:t>4</a:t>
            </a:r>
            <a:endParaRPr lang="en-US" sz="2200" dirty="0"/>
          </a:p>
        </p:txBody>
      </p:sp>
      <p:sp>
        <p:nvSpPr>
          <p:cNvPr id="22" name="Text 20"/>
          <p:cNvSpPr txBox="1"/>
          <p:nvPr/>
        </p:nvSpPr>
        <p:spPr>
          <a:xfrm>
            <a:off x="7269480" y="2834640"/>
            <a:ext cx="1847088"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Solve the QUBO</a:t>
            </a:r>
            <a:endParaRPr lang="en-US" sz="1500" dirty="0"/>
          </a:p>
        </p:txBody>
      </p:sp>
      <p:sp>
        <p:nvSpPr>
          <p:cNvPr id="23" name="Text 21"/>
          <p:cNvSpPr txBox="1"/>
          <p:nvPr/>
        </p:nvSpPr>
        <p:spPr>
          <a:xfrm>
            <a:off x="7315200" y="3474720"/>
            <a:ext cx="1755648" cy="2286000"/>
          </a:xfrm>
          <a:prstGeom prst="rect">
            <a:avLst/>
          </a:prstGeom>
          <a:noFill/>
          <a:ln/>
        </p:spPr>
        <p:txBody>
          <a:bodyPr wrap="square" rtlCol="0" anchor="ctr"/>
          <a:lstStyle/>
          <a:p>
            <a:pPr algn="ctr" indent="0" marL="0">
              <a:lnSpc>
                <a:spcPct val="125000"/>
              </a:lnSpc>
              <a:buNone/>
            </a:pPr>
            <a:r>
              <a:rPr lang="en-US" sz="1150" dirty="0">
                <a:solidFill>
                  <a:srgbClr val="C7D2FE"/>
                </a:solidFill>
                <a:latin typeface="Calibri" pitchFamily="34" charset="0"/>
                <a:ea typeface="Calibri" pitchFamily="34" charset="-122"/>
                <a:cs typeface="Calibri" pitchFamily="34" charset="-120"/>
              </a:rPr>
              <a:t>Reformulate the ordering problem for quantum annealing or QAOA — solved today via simulated annealing or a simulated quantum circuit.</a:t>
            </a:r>
            <a:endParaRPr lang="en-US" sz="1150" dirty="0"/>
          </a:p>
        </p:txBody>
      </p:sp>
      <p:sp>
        <p:nvSpPr>
          <p:cNvPr id="24" name="Shape 22"/>
          <p:cNvSpPr/>
          <p:nvPr/>
        </p:nvSpPr>
        <p:spPr>
          <a:xfrm>
            <a:off x="9326880" y="1828800"/>
            <a:ext cx="2121408" cy="4114800"/>
          </a:xfrm>
          <a:prstGeom prst="roundRect">
            <a:avLst>
              <a:gd name="adj" fmla="val 4310"/>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25" name="Shape 23"/>
          <p:cNvSpPr/>
          <p:nvPr/>
        </p:nvSpPr>
        <p:spPr>
          <a:xfrm>
            <a:off x="10113264" y="2103120"/>
            <a:ext cx="548640" cy="548640"/>
          </a:xfrm>
          <a:prstGeom prst="ellipse">
            <a:avLst/>
          </a:prstGeom>
          <a:solidFill>
            <a:srgbClr val="7C3AED"/>
          </a:solidFill>
          <a:ln/>
        </p:spPr>
      </p:sp>
      <p:sp>
        <p:nvSpPr>
          <p:cNvPr id="26" name="Text 24"/>
          <p:cNvSpPr txBox="1"/>
          <p:nvPr/>
        </p:nvSpPr>
        <p:spPr>
          <a:xfrm>
            <a:off x="10113264" y="2103120"/>
            <a:ext cx="5486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27" name="Text 25"/>
          <p:cNvSpPr txBox="1"/>
          <p:nvPr/>
        </p:nvSpPr>
        <p:spPr>
          <a:xfrm>
            <a:off x="9464040" y="2834640"/>
            <a:ext cx="1847088" cy="640080"/>
          </a:xfrm>
          <a:prstGeom prst="rect">
            <a:avLst/>
          </a:prstGeom>
          <a:noFill/>
          <a:ln/>
        </p:spPr>
        <p:txBody>
          <a:bodyPr wrap="square" rtlCol="0" anchor="ctr"/>
          <a:lstStyle/>
          <a:p>
            <a:pPr algn="ctr" indent="0" marL="0">
              <a:buNone/>
            </a:pPr>
            <a:r>
              <a:rPr lang="en-US" sz="1500" b="1" dirty="0">
                <a:solidFill>
                  <a:srgbClr val="1E1B4B"/>
                </a:solidFill>
                <a:latin typeface="Cambria" pitchFamily="34" charset="0"/>
                <a:ea typeface="Cambria" pitchFamily="34" charset="-122"/>
                <a:cs typeface="Cambria" pitchFamily="34" charset="-120"/>
              </a:rPr>
              <a:t>Prove it</a:t>
            </a:r>
            <a:endParaRPr lang="en-US" sz="1500" dirty="0"/>
          </a:p>
        </p:txBody>
      </p:sp>
      <p:sp>
        <p:nvSpPr>
          <p:cNvPr id="28" name="Text 26"/>
          <p:cNvSpPr txBox="1"/>
          <p:nvPr/>
        </p:nvSpPr>
        <p:spPr>
          <a:xfrm>
            <a:off x="9509760" y="3474720"/>
            <a:ext cx="1755648" cy="2286000"/>
          </a:xfrm>
          <a:prstGeom prst="rect">
            <a:avLst/>
          </a:prstGeom>
          <a:noFill/>
          <a:ln/>
        </p:spPr>
        <p:txBody>
          <a:bodyPr wrap="square" rtlCol="0" anchor="ctr"/>
          <a:lstStyle/>
          <a:p>
            <a:pPr algn="ctr" indent="0" marL="0">
              <a:lnSpc>
                <a:spcPct val="125000"/>
              </a:lnSpc>
              <a:buNone/>
            </a:pPr>
            <a:r>
              <a:rPr lang="en-US" sz="1150" dirty="0">
                <a:solidFill>
                  <a:srgbClr val="475569"/>
                </a:solidFill>
                <a:latin typeface="Calibri" pitchFamily="34" charset="0"/>
                <a:ea typeface="Calibri" pitchFamily="34" charset="-122"/>
                <a:cs typeface="Calibri" pitchFamily="34" charset="-120"/>
              </a:rPr>
              <a:t>Show the optimized route next to the naive one, with a real time-savings percentage.</a:t>
            </a:r>
            <a:endParaRPr lang="en-US" sz="1150" dirty="0"/>
          </a:p>
        </p:txBody>
      </p:sp>
      <p:sp>
        <p:nvSpPr>
          <p:cNvPr id="29" name="Text 27"/>
          <p:cNvSpPr txBox="1"/>
          <p:nvPr/>
        </p:nvSpPr>
        <p:spPr>
          <a:xfrm>
            <a:off x="54864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Quantum-Inspired Traffic Router  ·  SIH26137</a:t>
            </a:r>
            <a:endParaRPr lang="en-US" sz="900" dirty="0"/>
          </a:p>
        </p:txBody>
      </p:sp>
      <p:sp>
        <p:nvSpPr>
          <p:cNvPr id="30" name="Text 28"/>
          <p:cNvSpPr txBox="1"/>
          <p:nvPr/>
        </p:nvSpPr>
        <p:spPr>
          <a:xfrm>
            <a:off x="11521440" y="6473952"/>
            <a:ext cx="365760"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65760"/>
          </a:xfrm>
          <a:prstGeom prst="rect">
            <a:avLst/>
          </a:prstGeom>
          <a:noFill/>
          <a:ln/>
        </p:spPr>
        <p:txBody>
          <a:bodyPr wrap="square" rtlCol="0" anchor="ctr"/>
          <a:lstStyle/>
          <a:p>
            <a:pPr indent="0" marL="0">
              <a:buNone/>
            </a:pPr>
            <a:r>
              <a:rPr lang="en-US" sz="1300" b="1" spc="200" kern="0" dirty="0">
                <a:solidFill>
                  <a:srgbClr val="7C3AED"/>
                </a:solidFill>
                <a:latin typeface="Calibri" pitchFamily="34" charset="0"/>
                <a:ea typeface="Calibri" pitchFamily="34" charset="-122"/>
                <a:cs typeface="Calibri" pitchFamily="34" charset="-120"/>
              </a:rPr>
              <a:t>NOT TIED TO ONE QUANTUM APPROACH</a:t>
            </a:r>
            <a:endParaRPr lang="en-US" sz="1300" dirty="0"/>
          </a:p>
        </p:txBody>
      </p:sp>
      <p:sp>
        <p:nvSpPr>
          <p:cNvPr id="3" name="Text 1"/>
          <p:cNvSpPr txBox="1"/>
          <p:nvPr/>
        </p:nvSpPr>
        <p:spPr>
          <a:xfrm>
            <a:off x="548640" y="640080"/>
            <a:ext cx="10789920" cy="822960"/>
          </a:xfrm>
          <a:prstGeom prst="rect">
            <a:avLst/>
          </a:prstGeom>
          <a:noFill/>
          <a:ln/>
        </p:spPr>
        <p:txBody>
          <a:bodyPr wrap="square" rtlCol="0" anchor="ctr"/>
          <a:lstStyle/>
          <a:p>
            <a:pPr indent="0" marL="0">
              <a:buNone/>
            </a:pPr>
            <a:r>
              <a:rPr lang="en-US" sz="3200" b="1" dirty="0">
                <a:solidFill>
                  <a:srgbClr val="1E1B4B"/>
                </a:solidFill>
                <a:latin typeface="Cambria" pitchFamily="34" charset="0"/>
                <a:ea typeface="Cambria" pitchFamily="34" charset="-122"/>
                <a:cs typeface="Cambria" pitchFamily="34" charset="-120"/>
              </a:rPr>
              <a:t>The same QUBO, two different quantum computing paradigms</a:t>
            </a:r>
            <a:endParaRPr lang="en-US" sz="3200" dirty="0"/>
          </a:p>
        </p:txBody>
      </p:sp>
      <p:sp>
        <p:nvSpPr>
          <p:cNvPr id="4" name="Shape 2"/>
          <p:cNvSpPr/>
          <p:nvPr/>
        </p:nvSpPr>
        <p:spPr>
          <a:xfrm>
            <a:off x="548640" y="1828800"/>
            <a:ext cx="5394960" cy="4206240"/>
          </a:xfrm>
          <a:prstGeom prst="roundRect">
            <a:avLst>
              <a:gd name="adj" fmla="val 2609"/>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5" name="Shape 3"/>
          <p:cNvSpPr/>
          <p:nvPr/>
        </p:nvSpPr>
        <p:spPr>
          <a:xfrm>
            <a:off x="868680" y="2148840"/>
            <a:ext cx="3291840" cy="457200"/>
          </a:xfrm>
          <a:prstGeom prst="roundRect">
            <a:avLst>
              <a:gd name="adj" fmla="val 50000"/>
            </a:avLst>
          </a:prstGeom>
          <a:solidFill>
            <a:srgbClr val="7C3AED">
              <a:alpha val="15000"/>
            </a:srgbClr>
          </a:solidFill>
          <a:ln/>
        </p:spPr>
      </p:sp>
      <p:sp>
        <p:nvSpPr>
          <p:cNvPr id="6" name="Text 4"/>
          <p:cNvSpPr txBox="1"/>
          <p:nvPr/>
        </p:nvSpPr>
        <p:spPr>
          <a:xfrm>
            <a:off x="868680" y="2148840"/>
            <a:ext cx="3291840" cy="457200"/>
          </a:xfrm>
          <a:prstGeom prst="rect">
            <a:avLst/>
          </a:prstGeom>
          <a:noFill/>
          <a:ln/>
        </p:spPr>
        <p:txBody>
          <a:bodyPr wrap="square" rtlCol="0" anchor="ctr"/>
          <a:lstStyle/>
          <a:p>
            <a:pPr algn="ctr" indent="0" marL="0">
              <a:buNone/>
            </a:pPr>
            <a:r>
              <a:rPr lang="en-US" sz="1300" b="1" dirty="0">
                <a:solidFill>
                  <a:srgbClr val="7C3AED"/>
                </a:solidFill>
                <a:latin typeface="Calibri" pitchFamily="34" charset="0"/>
                <a:ea typeface="Calibri" pitchFamily="34" charset="-122"/>
                <a:cs typeface="Calibri" pitchFamily="34" charset="-120"/>
              </a:rPr>
              <a:t>Quantum annealing</a:t>
            </a:r>
            <a:endParaRPr lang="en-US" sz="1300" dirty="0"/>
          </a:p>
        </p:txBody>
      </p:sp>
      <p:sp>
        <p:nvSpPr>
          <p:cNvPr id="7" name="Text 5"/>
          <p:cNvSpPr txBox="1"/>
          <p:nvPr/>
        </p:nvSpPr>
        <p:spPr>
          <a:xfrm>
            <a:off x="914400" y="2834640"/>
            <a:ext cx="4663440" cy="2926080"/>
          </a:xfrm>
          <a:prstGeom prst="rect">
            <a:avLst/>
          </a:prstGeom>
          <a:noFill/>
          <a:ln/>
        </p:spPr>
        <p:txBody>
          <a:bodyPr wrap="square" rtlCol="0" anchor="ctr"/>
          <a:lstStyle/>
          <a:p>
            <a:pPr marL="342900" indent="-342900">
              <a:lnSpc>
                <a:spcPct val="125000"/>
              </a:lnSpc>
              <a:spcAft>
                <a:spcPts val="1400"/>
              </a:spcAft>
              <a:buSzPct val="100000"/>
              <a:buChar char="●"/>
            </a:pPr>
            <a:r>
              <a:rPr lang="en-US" sz="1350" dirty="0">
                <a:solidFill>
                  <a:srgbClr val="475569"/>
                </a:solidFill>
                <a:latin typeface="Calibri" pitchFamily="34" charset="0"/>
                <a:ea typeface="Calibri" pitchFamily="34" charset="-122"/>
                <a:cs typeface="Calibri" pitchFamily="34" charset="-120"/>
              </a:rPr>
              <a:t>Simulated by default (dwave-samplers) — fast, free, no hardware needed for the live demo.</a:t>
            </a:r>
            <a:endParaRPr lang="en-US" sz="1350" dirty="0"/>
          </a:p>
          <a:p>
            <a:pPr marL="342900" indent="-342900">
              <a:lnSpc>
                <a:spcPct val="125000"/>
              </a:lnSpc>
              <a:spcAft>
                <a:spcPts val="1400"/>
              </a:spcAft>
              <a:buSzPct val="100000"/>
              <a:buChar char="●"/>
            </a:pPr>
            <a:r>
              <a:rPr lang="en-US" sz="1350" dirty="0">
                <a:solidFill>
                  <a:srgbClr val="475569"/>
                </a:solidFill>
                <a:latin typeface="Calibri" pitchFamily="34" charset="0"/>
                <a:ea typeface="Calibri" pitchFamily="34" charset="-122"/>
                <a:cs typeface="Calibri" pitchFamily="34" charset="-120"/>
              </a:rPr>
              <a:t>The exact same BQM also runs on a real D-Wave QPU via a free Leap account — run_on_real_quantum_hardware.py prints an actual chip ID and hardware timing.</a:t>
            </a:r>
            <a:endParaRPr lang="en-US" sz="1350" dirty="0"/>
          </a:p>
        </p:txBody>
      </p:sp>
      <p:sp>
        <p:nvSpPr>
          <p:cNvPr id="8" name="Shape 6"/>
          <p:cNvSpPr/>
          <p:nvPr/>
        </p:nvSpPr>
        <p:spPr>
          <a:xfrm>
            <a:off x="6217920" y="1828800"/>
            <a:ext cx="5394960" cy="4206240"/>
          </a:xfrm>
          <a:prstGeom prst="roundRect">
            <a:avLst>
              <a:gd name="adj" fmla="val 2609"/>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9" name="Shape 7"/>
          <p:cNvSpPr/>
          <p:nvPr/>
        </p:nvSpPr>
        <p:spPr>
          <a:xfrm>
            <a:off x="6537960" y="2148840"/>
            <a:ext cx="3291840" cy="457200"/>
          </a:xfrm>
          <a:prstGeom prst="roundRect">
            <a:avLst>
              <a:gd name="adj" fmla="val 50000"/>
            </a:avLst>
          </a:prstGeom>
          <a:solidFill>
            <a:srgbClr val="22D3EE">
              <a:alpha val="15000"/>
            </a:srgbClr>
          </a:solidFill>
          <a:ln/>
        </p:spPr>
      </p:sp>
      <p:sp>
        <p:nvSpPr>
          <p:cNvPr id="10" name="Text 8"/>
          <p:cNvSpPr txBox="1"/>
          <p:nvPr/>
        </p:nvSpPr>
        <p:spPr>
          <a:xfrm>
            <a:off x="6537960" y="2148840"/>
            <a:ext cx="3291840" cy="457200"/>
          </a:xfrm>
          <a:prstGeom prst="rect">
            <a:avLst/>
          </a:prstGeom>
          <a:noFill/>
          <a:ln/>
        </p:spPr>
        <p:txBody>
          <a:bodyPr wrap="square" rtlCol="0" anchor="ctr"/>
          <a:lstStyle/>
          <a:p>
            <a:pPr algn="ctr" indent="0" marL="0">
              <a:buNone/>
            </a:pPr>
            <a:r>
              <a:rPr lang="en-US" sz="1300" b="1" dirty="0">
                <a:solidFill>
                  <a:srgbClr val="22D3EE"/>
                </a:solidFill>
                <a:latin typeface="Calibri" pitchFamily="34" charset="0"/>
                <a:ea typeface="Calibri" pitchFamily="34" charset="-122"/>
                <a:cs typeface="Calibri" pitchFamily="34" charset="-120"/>
              </a:rPr>
              <a:t>Gate-based circuits (QAOA)</a:t>
            </a:r>
            <a:endParaRPr lang="en-US" sz="1300" dirty="0"/>
          </a:p>
        </p:txBody>
      </p:sp>
      <p:sp>
        <p:nvSpPr>
          <p:cNvPr id="11" name="Text 9"/>
          <p:cNvSpPr txBox="1"/>
          <p:nvPr/>
        </p:nvSpPr>
        <p:spPr>
          <a:xfrm>
            <a:off x="6583680" y="2834640"/>
            <a:ext cx="4663440" cy="2926080"/>
          </a:xfrm>
          <a:prstGeom prst="rect">
            <a:avLst/>
          </a:prstGeom>
          <a:noFill/>
          <a:ln/>
        </p:spPr>
        <p:txBody>
          <a:bodyPr wrap="square" rtlCol="0" anchor="ctr"/>
          <a:lstStyle/>
          <a:p>
            <a:pPr marL="342900" indent="-342900">
              <a:lnSpc>
                <a:spcPct val="125000"/>
              </a:lnSpc>
              <a:spcAft>
                <a:spcPts val="1400"/>
              </a:spcAft>
              <a:buSzPct val="100000"/>
              <a:buChar char="●"/>
            </a:pPr>
            <a:r>
              <a:rPr lang="en-US" sz="1350" dirty="0">
                <a:solidFill>
                  <a:srgbClr val="475569"/>
                </a:solidFill>
                <a:latin typeface="Calibri" pitchFamily="34" charset="0"/>
                <a:ea typeface="Calibri" pitchFamily="34" charset="-122"/>
                <a:cs typeface="Calibri" pitchFamily="34" charset="-120"/>
              </a:rPr>
              <a:t>The same QUBO, converted to Ising form and solved by an explicit QAOA circuit (RZ/RZZ/RX gates) on a Qiskit statevector simulator.</a:t>
            </a:r>
            <a:endParaRPr lang="en-US" sz="1350" dirty="0"/>
          </a:p>
          <a:p>
            <a:pPr marL="342900" indent="-342900">
              <a:lnSpc>
                <a:spcPct val="125000"/>
              </a:lnSpc>
              <a:spcAft>
                <a:spcPts val="1400"/>
              </a:spcAft>
              <a:buSzPct val="100000"/>
              <a:buChar char="●"/>
            </a:pPr>
            <a:r>
              <a:rPr lang="en-US" sz="1350" dirty="0">
                <a:solidFill>
                  <a:srgbClr val="475569"/>
                </a:solidFill>
                <a:latin typeface="Calibri" pitchFamily="34" charset="0"/>
                <a:ea typeface="Calibri" pitchFamily="34" charset="-122"/>
                <a:cs typeface="Calibri" pitchFamily="34" charset="-120"/>
              </a:rPr>
              <a:t>No hand-off between formulations — one routing QUBO, portable to either major quantum computing paradigm with zero reformulation.</a:t>
            </a:r>
            <a:endParaRPr lang="en-US" sz="1350" dirty="0"/>
          </a:p>
        </p:txBody>
      </p:sp>
      <p:sp>
        <p:nvSpPr>
          <p:cNvPr id="12" name="Text 10"/>
          <p:cNvSpPr txBox="1"/>
          <p:nvPr/>
        </p:nvSpPr>
        <p:spPr>
          <a:xfrm>
            <a:off x="54864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Quantum-Inspired Traffic Router  ·  SIH26137</a:t>
            </a:r>
            <a:endParaRPr lang="en-US" sz="900" dirty="0"/>
          </a:p>
        </p:txBody>
      </p:sp>
      <p:sp>
        <p:nvSpPr>
          <p:cNvPr id="13" name="Text 11"/>
          <p:cNvSpPr txBox="1"/>
          <p:nvPr/>
        </p:nvSpPr>
        <p:spPr>
          <a:xfrm>
            <a:off x="11521440" y="6473952"/>
            <a:ext cx="365760"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65760"/>
          </a:xfrm>
          <a:prstGeom prst="rect">
            <a:avLst/>
          </a:prstGeom>
          <a:noFill/>
          <a:ln/>
        </p:spPr>
        <p:txBody>
          <a:bodyPr wrap="square" rtlCol="0" anchor="ctr"/>
          <a:lstStyle/>
          <a:p>
            <a:pPr indent="0" marL="0">
              <a:buNone/>
            </a:pPr>
            <a:r>
              <a:rPr lang="en-US" sz="1300" b="1" spc="200" kern="0" dirty="0">
                <a:solidFill>
                  <a:srgbClr val="F97316"/>
                </a:solidFill>
                <a:latin typeface="Calibri" pitchFamily="34" charset="0"/>
                <a:ea typeface="Calibri" pitchFamily="34" charset="-122"/>
                <a:cs typeface="Calibri" pitchFamily="34" charset="-120"/>
              </a:rPr>
              <a:t>BENCHMARK — EXPERIMENT 1</a:t>
            </a:r>
            <a:endParaRPr lang="en-US" sz="1300" dirty="0"/>
          </a:p>
        </p:txBody>
      </p:sp>
      <p:sp>
        <p:nvSpPr>
          <p:cNvPr id="3" name="Text 1"/>
          <p:cNvSpPr txBox="1"/>
          <p:nvPr/>
        </p:nvSpPr>
        <p:spPr>
          <a:xfrm>
            <a:off x="548640" y="640080"/>
            <a:ext cx="10789920" cy="822960"/>
          </a:xfrm>
          <a:prstGeom prst="rect">
            <a:avLst/>
          </a:prstGeom>
          <a:noFill/>
          <a:ln/>
        </p:spPr>
        <p:txBody>
          <a:bodyPr wrap="square" rtlCol="0" anchor="ctr"/>
          <a:lstStyle/>
          <a:p>
            <a:pPr indent="0" marL="0">
              <a:buNone/>
            </a:pPr>
            <a:r>
              <a:rPr lang="en-US" sz="3200" b="1" dirty="0">
                <a:solidFill>
                  <a:srgbClr val="1E1B4B"/>
                </a:solidFill>
                <a:latin typeface="Cambria" pitchFamily="34" charset="0"/>
                <a:ea typeface="Cambria" pitchFamily="34" charset="-122"/>
                <a:cs typeface="Cambria" pitchFamily="34" charset="-120"/>
              </a:rPr>
              <a:t>Plain routing: classical wins — and we say so</a:t>
            </a:r>
            <a:endParaRPr lang="en-US" sz="3200" dirty="0"/>
          </a:p>
        </p:txBody>
      </p:sp>
      <p:graphicFrame>
        <p:nvGraphicFramePr>
          <p:cNvPr id="4" name="Chart 0" descr=""/>
          <p:cNvGraphicFramePr/>
          <p:nvPr/>
        </p:nvGraphicFramePr>
        <p:xfrm>
          <a:off x="548640" y="1691640"/>
          <a:ext cx="6949440" cy="42976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691640"/>
            <a:ext cx="3886200" cy="4297680"/>
          </a:xfrm>
          <a:prstGeom prst="roundRect">
            <a:avLst>
              <a:gd name="adj" fmla="val 2824"/>
            </a:avLst>
          </a:prstGeom>
          <a:solidFill>
            <a:srgbClr val="1E1B4B"/>
          </a:solidFill>
          <a:ln/>
          <a:effectLst>
            <a:outerShdw sx="100000" sy="100000" kx="0" ky="0" algn="bl" rotWithShape="0" blurRad="76200" dist="38100" dir="5400000">
              <a:srgbClr val="0F172A">
                <a:alpha val="25000"/>
              </a:srgbClr>
            </a:outerShdw>
          </a:effectLst>
        </p:spPr>
      </p:sp>
      <p:sp>
        <p:nvSpPr>
          <p:cNvPr id="6" name="Text 3"/>
          <p:cNvSpPr txBox="1"/>
          <p:nvPr/>
        </p:nvSpPr>
        <p:spPr>
          <a:xfrm>
            <a:off x="8092440" y="1965960"/>
            <a:ext cx="3291840" cy="457200"/>
          </a:xfrm>
          <a:prstGeom prst="rect">
            <a:avLst/>
          </a:prstGeom>
          <a:noFill/>
          <a:ln/>
        </p:spPr>
        <p:txBody>
          <a:bodyPr wrap="square"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The honest finding</a:t>
            </a:r>
            <a:endParaRPr lang="en-US" sz="1600" dirty="0"/>
          </a:p>
        </p:txBody>
      </p:sp>
      <p:sp>
        <p:nvSpPr>
          <p:cNvPr id="7" name="Text 4"/>
          <p:cNvSpPr txBox="1"/>
          <p:nvPr/>
        </p:nvSpPr>
        <p:spPr>
          <a:xfrm>
            <a:off x="8092440" y="2514600"/>
            <a:ext cx="3291840" cy="3291840"/>
          </a:xfrm>
          <a:prstGeom prst="rect">
            <a:avLst/>
          </a:prstGeom>
          <a:noFill/>
          <a:ln/>
        </p:spPr>
        <p:txBody>
          <a:bodyPr wrap="square" rtlCol="0" anchor="ctr"/>
          <a:lstStyle/>
          <a:p>
            <a:pPr indent="0" marL="0">
              <a:lnSpc>
                <a:spcPct val="130000"/>
              </a:lnSpc>
              <a:buNone/>
            </a:pPr>
            <a:r>
              <a:rPr lang="en-US" sz="1300" dirty="0">
                <a:solidFill>
                  <a:srgbClr val="C7D2FE"/>
                </a:solidFill>
                <a:latin typeface="Calibri" pitchFamily="34" charset="0"/>
                <a:ea typeface="Calibri" pitchFamily="34" charset="-122"/>
                <a:cs typeface="Calibri" pitchFamily="34" charset="-120"/>
              </a:rPr>
              <a:t>Classical nearest-neighbor + 2-opt matches or beats our QUBO+SA solver on plain, unconstrained routing — and matches Google OR-Tools' production solver too.</a:t>
            </a:r>
            <a:pPr indent="0" marL="0">
              <a:lnSpc>
                <a:spcPct val="130000"/>
              </a:lnSpc>
              <a:buNone/>
            </a:pPr>
            <a:endParaRPr lang="en-US" sz="1300" dirty="0"/>
          </a:p>
          <a:p>
            <a:pPr indent="0" marL="0">
              <a:lnSpc>
                <a:spcPct val="130000"/>
              </a:lnSpc>
              <a:buNone/>
            </a:pPr>
            <a:endParaRPr lang="en-US" sz="1300" dirty="0"/>
          </a:p>
          <a:p>
            <a:pPr indent="0" marL="0">
              <a:lnSpc>
                <a:spcPct val="130000"/>
              </a:lnSpc>
              <a:buNone/>
            </a:pPr>
            <a:r>
              <a:rPr lang="en-US" sz="1300" dirty="0">
                <a:solidFill>
                  <a:srgbClr val="C7D2FE"/>
                </a:solidFill>
                <a:latin typeface="Calibri" pitchFamily="34" charset="0"/>
                <a:ea typeface="Calibri" pitchFamily="34" charset="-122"/>
                <a:cs typeface="Calibri" pitchFamily="34" charset="-120"/>
              </a:rPr>
              <a:t>We don't hide this. It's well-established operations-research literature, and it points at exactly where the quantum-inspired approach's real advantage shows up next.</a:t>
            </a:r>
            <a:endParaRPr lang="en-US" sz="1300" dirty="0"/>
          </a:p>
        </p:txBody>
      </p:sp>
      <p:sp>
        <p:nvSpPr>
          <p:cNvPr id="8" name="Text 5"/>
          <p:cNvSpPr txBox="1"/>
          <p:nvPr/>
        </p:nvSpPr>
        <p:spPr>
          <a:xfrm>
            <a:off x="54864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Quantum-Inspired Traffic Router  ·  SIH26137</a:t>
            </a:r>
            <a:endParaRPr lang="en-US" sz="900" dirty="0"/>
          </a:p>
        </p:txBody>
      </p:sp>
      <p:sp>
        <p:nvSpPr>
          <p:cNvPr id="9" name="Text 6"/>
          <p:cNvSpPr txBox="1"/>
          <p:nvPr/>
        </p:nvSpPr>
        <p:spPr>
          <a:xfrm>
            <a:off x="11521440" y="6473952"/>
            <a:ext cx="365760"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65760"/>
          </a:xfrm>
          <a:prstGeom prst="rect">
            <a:avLst/>
          </a:prstGeom>
          <a:noFill/>
          <a:ln/>
        </p:spPr>
        <p:txBody>
          <a:bodyPr wrap="square" rtlCol="0" anchor="ctr"/>
          <a:lstStyle/>
          <a:p>
            <a:pPr indent="0" marL="0">
              <a:buNone/>
            </a:pPr>
            <a:r>
              <a:rPr lang="en-US" sz="1300" b="1" spc="200" kern="0" dirty="0">
                <a:solidFill>
                  <a:srgbClr val="22D3EE"/>
                </a:solidFill>
                <a:latin typeface="Calibri" pitchFamily="34" charset="0"/>
                <a:ea typeface="Calibri" pitchFamily="34" charset="-122"/>
                <a:cs typeface="Calibri" pitchFamily="34" charset="-120"/>
              </a:rPr>
              <a:t>BENCHMARK — EXPERIMENT 2</a:t>
            </a:r>
            <a:endParaRPr lang="en-US" sz="1300" dirty="0"/>
          </a:p>
        </p:txBody>
      </p:sp>
      <p:sp>
        <p:nvSpPr>
          <p:cNvPr id="3" name="Text 1"/>
          <p:cNvSpPr txBox="1"/>
          <p:nvPr/>
        </p:nvSpPr>
        <p:spPr>
          <a:xfrm>
            <a:off x="548640" y="640080"/>
            <a:ext cx="10789920"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Add ONE real dispatch rule — and the gap flips</a:t>
            </a:r>
            <a:endParaRPr lang="en-US" sz="3200" dirty="0"/>
          </a:p>
        </p:txBody>
      </p:sp>
      <p:sp>
        <p:nvSpPr>
          <p:cNvPr id="4" name="Shape 2"/>
          <p:cNvSpPr/>
          <p:nvPr/>
        </p:nvSpPr>
        <p:spPr>
          <a:xfrm>
            <a:off x="548640" y="1920240"/>
            <a:ext cx="3566160" cy="2377440"/>
          </a:xfrm>
          <a:prstGeom prst="roundRect">
            <a:avLst>
              <a:gd name="adj" fmla="val 4615"/>
            </a:avLst>
          </a:prstGeom>
          <a:solidFill>
            <a:srgbClr val="312E81"/>
          </a:solidFill>
          <a:ln/>
          <a:effectLst>
            <a:outerShdw sx="100000" sy="100000" kx="0" ky="0" algn="bl" rotWithShape="0" blurRad="76200" dist="38100" dir="5400000">
              <a:srgbClr val="0F172A">
                <a:alpha val="25000"/>
              </a:srgbClr>
            </a:outerShdw>
          </a:effectLst>
        </p:spPr>
      </p:sp>
      <p:sp>
        <p:nvSpPr>
          <p:cNvPr id="5" name="Text 3"/>
          <p:cNvSpPr txBox="1"/>
          <p:nvPr/>
        </p:nvSpPr>
        <p:spPr>
          <a:xfrm>
            <a:off x="548640" y="2103120"/>
            <a:ext cx="3566160" cy="1051560"/>
          </a:xfrm>
          <a:prstGeom prst="rect">
            <a:avLst/>
          </a:prstGeom>
          <a:noFill/>
          <a:ln/>
        </p:spPr>
        <p:txBody>
          <a:bodyPr wrap="square" rtlCol="0" anchor="ctr"/>
          <a:lstStyle/>
          <a:p>
            <a:pPr algn="ctr" indent="0" marL="0">
              <a:buNone/>
            </a:pPr>
            <a:r>
              <a:rPr lang="en-US" sz="4000" b="1" dirty="0">
                <a:solidFill>
                  <a:srgbClr val="22C55E"/>
                </a:solidFill>
                <a:latin typeface="Cambria" pitchFamily="34" charset="0"/>
                <a:ea typeface="Cambria" pitchFamily="34" charset="-122"/>
                <a:cs typeface="Cambria" pitchFamily="34" charset="-120"/>
              </a:rPr>
              <a:t>15/15</a:t>
            </a:r>
            <a:endParaRPr lang="en-US" sz="4000" dirty="0"/>
          </a:p>
        </p:txBody>
      </p:sp>
      <p:sp>
        <p:nvSpPr>
          <p:cNvPr id="6" name="Text 4"/>
          <p:cNvSpPr txBox="1"/>
          <p:nvPr/>
        </p:nvSpPr>
        <p:spPr>
          <a:xfrm>
            <a:off x="731520" y="3154680"/>
            <a:ext cx="3200400" cy="1005840"/>
          </a:xfrm>
          <a:prstGeom prst="rect">
            <a:avLst/>
          </a:prstGeom>
          <a:noFill/>
          <a:ln/>
        </p:spPr>
        <p:txBody>
          <a:bodyPr wrap="square" rtlCol="0" anchor="ctr"/>
          <a:lstStyle/>
          <a:p>
            <a:pPr algn="ctr" indent="0" marL="0">
              <a:lnSpc>
                <a:spcPct val="120000"/>
              </a:lnSpc>
              <a:buNone/>
            </a:pPr>
            <a:r>
              <a:rPr lang="en-US" sz="1250" dirty="0">
                <a:solidFill>
                  <a:srgbClr val="C7D2FE"/>
                </a:solidFill>
                <a:latin typeface="Calibri" pitchFamily="34" charset="0"/>
                <a:ea typeface="Calibri" pitchFamily="34" charset="-122"/>
                <a:cs typeface="Calibri" pitchFamily="34" charset="-120"/>
              </a:rPr>
              <a:t>QUBO+SA satisfied the</a:t>
            </a:r>
            <a:endParaRPr lang="en-US" sz="1250" dirty="0"/>
          </a:p>
          <a:p>
            <a:pPr algn="ctr" indent="0" marL="0">
              <a:lnSpc>
                <a:spcPct val="120000"/>
              </a:lnSpc>
              <a:buNone/>
            </a:pPr>
            <a:r>
              <a:rPr lang="en-US" sz="1250" dirty="0">
                <a:solidFill>
                  <a:srgbClr val="C7D2FE"/>
                </a:solidFill>
                <a:latin typeface="Calibri" pitchFamily="34" charset="0"/>
                <a:ea typeface="Calibri" pitchFamily="34" charset="-122"/>
                <a:cs typeface="Calibri" pitchFamily="34" charset="-120"/>
              </a:rPr>
              <a:t>precedence rule by construction</a:t>
            </a:r>
            <a:endParaRPr lang="en-US" sz="1250" dirty="0"/>
          </a:p>
        </p:txBody>
      </p:sp>
      <p:sp>
        <p:nvSpPr>
          <p:cNvPr id="7" name="Shape 5"/>
          <p:cNvSpPr/>
          <p:nvPr/>
        </p:nvSpPr>
        <p:spPr>
          <a:xfrm>
            <a:off x="4343400" y="1920240"/>
            <a:ext cx="3566160" cy="2377440"/>
          </a:xfrm>
          <a:prstGeom prst="roundRect">
            <a:avLst>
              <a:gd name="adj" fmla="val 4615"/>
            </a:avLst>
          </a:prstGeom>
          <a:solidFill>
            <a:srgbClr val="312E81"/>
          </a:solidFill>
          <a:ln/>
          <a:effectLst>
            <a:outerShdw sx="100000" sy="100000" kx="0" ky="0" algn="bl" rotWithShape="0" blurRad="76200" dist="38100" dir="5400000">
              <a:srgbClr val="0F172A">
                <a:alpha val="25000"/>
              </a:srgbClr>
            </a:outerShdw>
          </a:effectLst>
        </p:spPr>
      </p:sp>
      <p:sp>
        <p:nvSpPr>
          <p:cNvPr id="8" name="Text 6"/>
          <p:cNvSpPr txBox="1"/>
          <p:nvPr/>
        </p:nvSpPr>
        <p:spPr>
          <a:xfrm>
            <a:off x="4343400" y="2103120"/>
            <a:ext cx="3566160" cy="1051560"/>
          </a:xfrm>
          <a:prstGeom prst="rect">
            <a:avLst/>
          </a:prstGeom>
          <a:noFill/>
          <a:ln/>
        </p:spPr>
        <p:txBody>
          <a:bodyPr wrap="square" rtlCol="0" anchor="ctr"/>
          <a:lstStyle/>
          <a:p>
            <a:pPr algn="ctr" indent="0" marL="0">
              <a:buNone/>
            </a:pPr>
            <a:r>
              <a:rPr lang="en-US" sz="4000" b="1" dirty="0">
                <a:solidFill>
                  <a:srgbClr val="F97316"/>
                </a:solidFill>
                <a:latin typeface="Cambria" pitchFamily="34" charset="0"/>
                <a:ea typeface="Cambria" pitchFamily="34" charset="-122"/>
                <a:cs typeface="Cambria" pitchFamily="34" charset="-120"/>
              </a:rPr>
              <a:t>8/15</a:t>
            </a:r>
            <a:endParaRPr lang="en-US" sz="4000" dirty="0"/>
          </a:p>
        </p:txBody>
      </p:sp>
      <p:sp>
        <p:nvSpPr>
          <p:cNvPr id="9" name="Text 7"/>
          <p:cNvSpPr txBox="1"/>
          <p:nvPr/>
        </p:nvSpPr>
        <p:spPr>
          <a:xfrm>
            <a:off x="4526280" y="3154680"/>
            <a:ext cx="3200400" cy="1005840"/>
          </a:xfrm>
          <a:prstGeom prst="rect">
            <a:avLst/>
          </a:prstGeom>
          <a:noFill/>
          <a:ln/>
        </p:spPr>
        <p:txBody>
          <a:bodyPr wrap="square" rtlCol="0" anchor="ctr"/>
          <a:lstStyle/>
          <a:p>
            <a:pPr algn="ctr" indent="0" marL="0">
              <a:lnSpc>
                <a:spcPct val="120000"/>
              </a:lnSpc>
              <a:buNone/>
            </a:pPr>
            <a:r>
              <a:rPr lang="en-US" sz="1250" dirty="0">
                <a:solidFill>
                  <a:srgbClr val="C7D2FE"/>
                </a:solidFill>
                <a:latin typeface="Calibri" pitchFamily="34" charset="0"/>
                <a:ea typeface="Calibri" pitchFamily="34" charset="-122"/>
                <a:cs typeface="Calibri" pitchFamily="34" charset="-120"/>
              </a:rPr>
              <a:t>trials where constraint-blind</a:t>
            </a:r>
            <a:endParaRPr lang="en-US" sz="1250" dirty="0"/>
          </a:p>
          <a:p>
            <a:pPr algn="ctr" indent="0" marL="0">
              <a:lnSpc>
                <a:spcPct val="120000"/>
              </a:lnSpc>
              <a:buNone/>
            </a:pPr>
            <a:r>
              <a:rPr lang="en-US" sz="1250" dirty="0">
                <a:solidFill>
                  <a:srgbClr val="C7D2FE"/>
                </a:solidFill>
                <a:latin typeface="Calibri" pitchFamily="34" charset="0"/>
                <a:ea typeface="Calibri" pitchFamily="34" charset="-122"/>
                <a:cs typeface="Calibri" pitchFamily="34" charset="-120"/>
              </a:rPr>
              <a:t>2-opt violated the same rule</a:t>
            </a:r>
            <a:endParaRPr lang="en-US" sz="1250" dirty="0"/>
          </a:p>
        </p:txBody>
      </p:sp>
      <p:sp>
        <p:nvSpPr>
          <p:cNvPr id="10" name="Shape 8"/>
          <p:cNvSpPr/>
          <p:nvPr/>
        </p:nvSpPr>
        <p:spPr>
          <a:xfrm>
            <a:off x="8138160" y="1920240"/>
            <a:ext cx="3566160" cy="2377440"/>
          </a:xfrm>
          <a:prstGeom prst="roundRect">
            <a:avLst>
              <a:gd name="adj" fmla="val 4615"/>
            </a:avLst>
          </a:prstGeom>
          <a:solidFill>
            <a:srgbClr val="312E81"/>
          </a:solidFill>
          <a:ln/>
          <a:effectLst>
            <a:outerShdw sx="100000" sy="100000" kx="0" ky="0" algn="bl" rotWithShape="0" blurRad="76200" dist="38100" dir="5400000">
              <a:srgbClr val="0F172A">
                <a:alpha val="25000"/>
              </a:srgbClr>
            </a:outerShdw>
          </a:effectLst>
        </p:spPr>
      </p:sp>
      <p:sp>
        <p:nvSpPr>
          <p:cNvPr id="11" name="Text 9"/>
          <p:cNvSpPr txBox="1"/>
          <p:nvPr/>
        </p:nvSpPr>
        <p:spPr>
          <a:xfrm>
            <a:off x="8138160" y="2103120"/>
            <a:ext cx="3566160" cy="1051560"/>
          </a:xfrm>
          <a:prstGeom prst="rect">
            <a:avLst/>
          </a:prstGeom>
          <a:noFill/>
          <a:ln/>
        </p:spPr>
        <p:txBody>
          <a:bodyPr wrap="square" rtlCol="0" anchor="ctr"/>
          <a:lstStyle/>
          <a:p>
            <a:pPr algn="ctr" indent="0" marL="0">
              <a:buNone/>
            </a:pPr>
            <a:r>
              <a:rPr lang="en-US" sz="4000" b="1" dirty="0">
                <a:solidFill>
                  <a:srgbClr val="F97316"/>
                </a:solidFill>
                <a:latin typeface="Cambria" pitchFamily="34" charset="0"/>
                <a:ea typeface="Cambria" pitchFamily="34" charset="-122"/>
                <a:cs typeface="Cambria" pitchFamily="34" charset="-120"/>
              </a:rPr>
              <a:t>+31.9%</a:t>
            </a:r>
            <a:endParaRPr lang="en-US" sz="4000" dirty="0"/>
          </a:p>
        </p:txBody>
      </p:sp>
      <p:sp>
        <p:nvSpPr>
          <p:cNvPr id="12" name="Text 10"/>
          <p:cNvSpPr txBox="1"/>
          <p:nvPr/>
        </p:nvSpPr>
        <p:spPr>
          <a:xfrm>
            <a:off x="8321040" y="3154680"/>
            <a:ext cx="3200400" cy="1005840"/>
          </a:xfrm>
          <a:prstGeom prst="rect">
            <a:avLst/>
          </a:prstGeom>
          <a:noFill/>
          <a:ln/>
        </p:spPr>
        <p:txBody>
          <a:bodyPr wrap="square" rtlCol="0" anchor="ctr"/>
          <a:lstStyle/>
          <a:p>
            <a:pPr algn="ctr" indent="0" marL="0">
              <a:lnSpc>
                <a:spcPct val="120000"/>
              </a:lnSpc>
              <a:buNone/>
            </a:pPr>
            <a:r>
              <a:rPr lang="en-US" sz="1250" dirty="0">
                <a:solidFill>
                  <a:srgbClr val="C7D2FE"/>
                </a:solidFill>
                <a:latin typeface="Calibri" pitchFamily="34" charset="0"/>
                <a:ea typeface="Calibri" pitchFamily="34" charset="-122"/>
                <a:cs typeface="Calibri" pitchFamily="34" charset="-120"/>
              </a:rPr>
              <a:t>worst-case extra distance from</a:t>
            </a:r>
            <a:endParaRPr lang="en-US" sz="1250" dirty="0"/>
          </a:p>
          <a:p>
            <a:pPr algn="ctr" indent="0" marL="0">
              <a:lnSpc>
                <a:spcPct val="120000"/>
              </a:lnSpc>
              <a:buNone/>
            </a:pPr>
            <a:r>
              <a:rPr lang="en-US" sz="1250" dirty="0">
                <a:solidFill>
                  <a:srgbClr val="C7D2FE"/>
                </a:solidFill>
                <a:latin typeface="Calibri" pitchFamily="34" charset="0"/>
                <a:ea typeface="Calibri" pitchFamily="34" charset="-122"/>
                <a:cs typeface="Calibri" pitchFamily="34" charset="-120"/>
              </a:rPr>
              <a:t>patching a violated route after the fact</a:t>
            </a:r>
            <a:endParaRPr lang="en-US" sz="1250" dirty="0"/>
          </a:p>
        </p:txBody>
      </p:sp>
      <p:sp>
        <p:nvSpPr>
          <p:cNvPr id="13" name="Text 11"/>
          <p:cNvSpPr txBox="1"/>
          <p:nvPr/>
        </p:nvSpPr>
        <p:spPr>
          <a:xfrm>
            <a:off x="548640" y="4617720"/>
            <a:ext cx="11064240" cy="1371600"/>
          </a:xfrm>
          <a:prstGeom prst="rect">
            <a:avLst/>
          </a:prstGeom>
          <a:noFill/>
          <a:ln/>
        </p:spPr>
        <p:txBody>
          <a:bodyPr wrap="square" rtlCol="0" anchor="ctr"/>
          <a:lstStyle/>
          <a:p>
            <a:pPr indent="0" marL="0">
              <a:lnSpc>
                <a:spcPct val="130000"/>
              </a:lnSpc>
              <a:buNone/>
            </a:pPr>
            <a:r>
              <a:rPr lang="en-US" sz="1500" dirty="0">
                <a:solidFill>
                  <a:srgbClr val="E0E7FF"/>
                </a:solidFill>
                <a:latin typeface="Calibri" pitchFamily="34" charset="0"/>
                <a:ea typeface="Calibri" pitchFamily="34" charset="-122"/>
                <a:cs typeface="Calibri" pitchFamily="34" charset="-120"/>
              </a:rPr>
              <a:t>Real dispatch always has rules beyond “shortest path” — pickup before drop-off, a stop before a cutoff, a road off-limits for one vehicle class. A classical local-search heuristic has no notion of these; the QUBO formulation adds each one as one more composable penalty term in the same optimization, satisfied by construction, not checked after the fact.</a:t>
            </a:r>
            <a:endParaRPr lang="en-US" sz="1500" dirty="0"/>
          </a:p>
        </p:txBody>
      </p:sp>
      <p:sp>
        <p:nvSpPr>
          <p:cNvPr id="14" name="Text 12"/>
          <p:cNvSpPr txBox="1"/>
          <p:nvPr/>
        </p:nvSpPr>
        <p:spPr>
          <a:xfrm>
            <a:off x="54864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Quantum-Inspired Traffic Router  ·  SIH26137</a:t>
            </a:r>
            <a:endParaRPr lang="en-US" sz="900" dirty="0"/>
          </a:p>
        </p:txBody>
      </p:sp>
      <p:sp>
        <p:nvSpPr>
          <p:cNvPr id="15" name="Text 13"/>
          <p:cNvSpPr txBox="1"/>
          <p:nvPr/>
        </p:nvSpPr>
        <p:spPr>
          <a:xfrm>
            <a:off x="11521440" y="6473952"/>
            <a:ext cx="365760"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65760"/>
          </a:xfrm>
          <a:prstGeom prst="rect">
            <a:avLst/>
          </a:prstGeom>
          <a:noFill/>
          <a:ln/>
        </p:spPr>
        <p:txBody>
          <a:bodyPr wrap="square" rtlCol="0" anchor="ctr"/>
          <a:lstStyle/>
          <a:p>
            <a:pPr indent="0" marL="0">
              <a:buNone/>
            </a:pPr>
            <a:r>
              <a:rPr lang="en-US" sz="1300" b="1" spc="200" kern="0" dirty="0">
                <a:solidFill>
                  <a:srgbClr val="22D3EE"/>
                </a:solidFill>
                <a:latin typeface="Calibri" pitchFamily="34" charset="0"/>
                <a:ea typeface="Calibri" pitchFamily="34" charset="-122"/>
                <a:cs typeface="Calibri" pitchFamily="34" charset="-120"/>
              </a:rPr>
              <a:t>BENCHMARK — EXPERIMENT 3</a:t>
            </a:r>
            <a:endParaRPr lang="en-US" sz="1300" dirty="0"/>
          </a:p>
        </p:txBody>
      </p:sp>
      <p:sp>
        <p:nvSpPr>
          <p:cNvPr id="3" name="Text 1"/>
          <p:cNvSpPr txBox="1"/>
          <p:nvPr/>
        </p:nvSpPr>
        <p:spPr>
          <a:xfrm>
            <a:off x="548640" y="640080"/>
            <a:ext cx="10789920"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Compose constraints together — that's the real claim</a:t>
            </a:r>
            <a:endParaRPr lang="en-US" sz="3200" dirty="0"/>
          </a:p>
        </p:txBody>
      </p:sp>
      <p:sp>
        <p:nvSpPr>
          <p:cNvPr id="4" name="Shape 2"/>
          <p:cNvSpPr/>
          <p:nvPr/>
        </p:nvSpPr>
        <p:spPr>
          <a:xfrm>
            <a:off x="548640" y="1920240"/>
            <a:ext cx="3566160" cy="2377440"/>
          </a:xfrm>
          <a:prstGeom prst="roundRect">
            <a:avLst>
              <a:gd name="adj" fmla="val 4615"/>
            </a:avLst>
          </a:prstGeom>
          <a:solidFill>
            <a:srgbClr val="312E81"/>
          </a:solidFill>
          <a:ln/>
          <a:effectLst>
            <a:outerShdw sx="100000" sy="100000" kx="0" ky="0" algn="bl" rotWithShape="0" blurRad="76200" dist="38100" dir="5400000">
              <a:srgbClr val="0F172A">
                <a:alpha val="25000"/>
              </a:srgbClr>
            </a:outerShdw>
          </a:effectLst>
        </p:spPr>
      </p:sp>
      <p:sp>
        <p:nvSpPr>
          <p:cNvPr id="5" name="Text 3"/>
          <p:cNvSpPr txBox="1"/>
          <p:nvPr/>
        </p:nvSpPr>
        <p:spPr>
          <a:xfrm>
            <a:off x="548640" y="2103120"/>
            <a:ext cx="3566160" cy="1051560"/>
          </a:xfrm>
          <a:prstGeom prst="rect">
            <a:avLst/>
          </a:prstGeom>
          <a:noFill/>
          <a:ln/>
        </p:spPr>
        <p:txBody>
          <a:bodyPr wrap="square" rtlCol="0" anchor="ctr"/>
          <a:lstStyle/>
          <a:p>
            <a:pPr algn="ctr" indent="0" marL="0">
              <a:buNone/>
            </a:pPr>
            <a:r>
              <a:rPr lang="en-US" sz="4000" b="1" dirty="0">
                <a:solidFill>
                  <a:srgbClr val="22C55E"/>
                </a:solidFill>
                <a:latin typeface="Cambria" pitchFamily="34" charset="0"/>
                <a:ea typeface="Cambria" pitchFamily="34" charset="-122"/>
                <a:cs typeface="Cambria" pitchFamily="34" charset="-120"/>
              </a:rPr>
              <a:t>14/14</a:t>
            </a:r>
            <a:endParaRPr lang="en-US" sz="4000" dirty="0"/>
          </a:p>
        </p:txBody>
      </p:sp>
      <p:sp>
        <p:nvSpPr>
          <p:cNvPr id="6" name="Text 4"/>
          <p:cNvSpPr txBox="1"/>
          <p:nvPr/>
        </p:nvSpPr>
        <p:spPr>
          <a:xfrm>
            <a:off x="731520" y="3154680"/>
            <a:ext cx="3200400" cy="1005840"/>
          </a:xfrm>
          <a:prstGeom prst="rect">
            <a:avLst/>
          </a:prstGeom>
          <a:noFill/>
          <a:ln/>
        </p:spPr>
        <p:txBody>
          <a:bodyPr wrap="square" rtlCol="0" anchor="ctr"/>
          <a:lstStyle/>
          <a:p>
            <a:pPr algn="ctr" indent="0" marL="0">
              <a:lnSpc>
                <a:spcPct val="120000"/>
              </a:lnSpc>
              <a:buNone/>
            </a:pPr>
            <a:r>
              <a:rPr lang="en-US" sz="1250" dirty="0">
                <a:solidFill>
                  <a:srgbClr val="C7D2FE"/>
                </a:solidFill>
                <a:latin typeface="Calibri" pitchFamily="34" charset="0"/>
                <a:ea typeface="Calibri" pitchFamily="34" charset="-122"/>
                <a:cs typeface="Calibri" pitchFamily="34" charset="-120"/>
              </a:rPr>
              <a:t>COMPOSED (capacity AND</a:t>
            </a:r>
            <a:endParaRPr lang="en-US" sz="1250" dirty="0"/>
          </a:p>
          <a:p>
            <a:pPr algn="ctr" indent="0" marL="0">
              <a:lnSpc>
                <a:spcPct val="120000"/>
              </a:lnSpc>
              <a:buNone/>
            </a:pPr>
            <a:r>
              <a:rPr lang="en-US" sz="1250" dirty="0">
                <a:solidFill>
                  <a:srgbClr val="C7D2FE"/>
                </a:solidFill>
                <a:latin typeface="Calibri" pitchFamily="34" charset="0"/>
                <a:ea typeface="Calibri" pitchFamily="34" charset="-122"/>
                <a:cs typeface="Calibri" pitchFamily="34" charset="-120"/>
              </a:rPr>
              <a:t>precedence together) satisfied both</a:t>
            </a:r>
            <a:endParaRPr lang="en-US" sz="1250" dirty="0"/>
          </a:p>
        </p:txBody>
      </p:sp>
      <p:sp>
        <p:nvSpPr>
          <p:cNvPr id="7" name="Shape 5"/>
          <p:cNvSpPr/>
          <p:nvPr/>
        </p:nvSpPr>
        <p:spPr>
          <a:xfrm>
            <a:off x="4343400" y="1920240"/>
            <a:ext cx="3566160" cy="2377440"/>
          </a:xfrm>
          <a:prstGeom prst="roundRect">
            <a:avLst>
              <a:gd name="adj" fmla="val 4615"/>
            </a:avLst>
          </a:prstGeom>
          <a:solidFill>
            <a:srgbClr val="312E81"/>
          </a:solidFill>
          <a:ln/>
          <a:effectLst>
            <a:outerShdw sx="100000" sy="100000" kx="0" ky="0" algn="bl" rotWithShape="0" blurRad="76200" dist="38100" dir="5400000">
              <a:srgbClr val="0F172A">
                <a:alpha val="25000"/>
              </a:srgbClr>
            </a:outerShdw>
          </a:effectLst>
        </p:spPr>
      </p:sp>
      <p:sp>
        <p:nvSpPr>
          <p:cNvPr id="8" name="Text 6"/>
          <p:cNvSpPr txBox="1"/>
          <p:nvPr/>
        </p:nvSpPr>
        <p:spPr>
          <a:xfrm>
            <a:off x="4343400" y="2103120"/>
            <a:ext cx="3566160" cy="1051560"/>
          </a:xfrm>
          <a:prstGeom prst="rect">
            <a:avLst/>
          </a:prstGeom>
          <a:noFill/>
          <a:ln/>
        </p:spPr>
        <p:txBody>
          <a:bodyPr wrap="square" rtlCol="0" anchor="ctr"/>
          <a:lstStyle/>
          <a:p>
            <a:pPr algn="ctr" indent="0" marL="0">
              <a:buNone/>
            </a:pPr>
            <a:r>
              <a:rPr lang="en-US" sz="4000" b="1" dirty="0">
                <a:solidFill>
                  <a:srgbClr val="F97316"/>
                </a:solidFill>
                <a:latin typeface="Cambria" pitchFamily="34" charset="0"/>
                <a:ea typeface="Cambria" pitchFamily="34" charset="-122"/>
                <a:cs typeface="Cambria" pitchFamily="34" charset="-120"/>
              </a:rPr>
              <a:t>6/14</a:t>
            </a:r>
            <a:endParaRPr lang="en-US" sz="4000" dirty="0"/>
          </a:p>
        </p:txBody>
      </p:sp>
      <p:sp>
        <p:nvSpPr>
          <p:cNvPr id="9" name="Text 7"/>
          <p:cNvSpPr txBox="1"/>
          <p:nvPr/>
        </p:nvSpPr>
        <p:spPr>
          <a:xfrm>
            <a:off x="4526280" y="3154680"/>
            <a:ext cx="3200400" cy="1005840"/>
          </a:xfrm>
          <a:prstGeom prst="rect">
            <a:avLst/>
          </a:prstGeom>
          <a:noFill/>
          <a:ln/>
        </p:spPr>
        <p:txBody>
          <a:bodyPr wrap="square" rtlCol="0" anchor="ctr"/>
          <a:lstStyle/>
          <a:p>
            <a:pPr algn="ctr" indent="0" marL="0">
              <a:lnSpc>
                <a:spcPct val="120000"/>
              </a:lnSpc>
              <a:buNone/>
            </a:pPr>
            <a:r>
              <a:rPr lang="en-US" sz="1250" dirty="0">
                <a:solidFill>
                  <a:srgbClr val="C7D2FE"/>
                </a:solidFill>
                <a:latin typeface="Calibri" pitchFamily="34" charset="0"/>
                <a:ea typeface="Calibri" pitchFamily="34" charset="-122"/>
                <a:cs typeface="Calibri" pitchFamily="34" charset="-120"/>
              </a:rPr>
              <a:t>CAPACITY-ONLY (precedence-blind)</a:t>
            </a:r>
            <a:endParaRPr lang="en-US" sz="1250" dirty="0"/>
          </a:p>
          <a:p>
            <a:pPr algn="ctr" indent="0" marL="0">
              <a:lnSpc>
                <a:spcPct val="120000"/>
              </a:lnSpc>
              <a:buNone/>
            </a:pPr>
            <a:r>
              <a:rPr lang="en-US" sz="1250" dirty="0">
                <a:solidFill>
                  <a:srgbClr val="C7D2FE"/>
                </a:solidFill>
                <a:latin typeface="Calibri" pitchFamily="34" charset="0"/>
                <a:ea typeface="Calibri" pitchFamily="34" charset="-122"/>
                <a:cs typeface="Calibri" pitchFamily="34" charset="-120"/>
              </a:rPr>
              <a:t>violated precedence anyway</a:t>
            </a:r>
            <a:endParaRPr lang="en-US" sz="1250" dirty="0"/>
          </a:p>
        </p:txBody>
      </p:sp>
      <p:sp>
        <p:nvSpPr>
          <p:cNvPr id="10" name="Shape 8"/>
          <p:cNvSpPr/>
          <p:nvPr/>
        </p:nvSpPr>
        <p:spPr>
          <a:xfrm>
            <a:off x="8138160" y="1920240"/>
            <a:ext cx="3566160" cy="2377440"/>
          </a:xfrm>
          <a:prstGeom prst="roundRect">
            <a:avLst>
              <a:gd name="adj" fmla="val 4615"/>
            </a:avLst>
          </a:prstGeom>
          <a:solidFill>
            <a:srgbClr val="312E81"/>
          </a:solidFill>
          <a:ln/>
          <a:effectLst>
            <a:outerShdw sx="100000" sy="100000" kx="0" ky="0" algn="bl" rotWithShape="0" blurRad="76200" dist="38100" dir="5400000">
              <a:srgbClr val="0F172A">
                <a:alpha val="25000"/>
              </a:srgbClr>
            </a:outerShdw>
          </a:effectLst>
        </p:spPr>
      </p:sp>
      <p:sp>
        <p:nvSpPr>
          <p:cNvPr id="11" name="Text 9"/>
          <p:cNvSpPr txBox="1"/>
          <p:nvPr/>
        </p:nvSpPr>
        <p:spPr>
          <a:xfrm>
            <a:off x="8138160" y="2103120"/>
            <a:ext cx="3566160" cy="1051560"/>
          </a:xfrm>
          <a:prstGeom prst="rect">
            <a:avLst/>
          </a:prstGeom>
          <a:noFill/>
          <a:ln/>
        </p:spPr>
        <p:txBody>
          <a:bodyPr wrap="square" rtlCol="0" anchor="ctr"/>
          <a:lstStyle/>
          <a:p>
            <a:pPr algn="ctr" indent="0" marL="0">
              <a:buNone/>
            </a:pPr>
            <a:r>
              <a:rPr lang="en-US" sz="4000" b="1" dirty="0">
                <a:solidFill>
                  <a:srgbClr val="F97316"/>
                </a:solidFill>
                <a:latin typeface="Cambria" pitchFamily="34" charset="0"/>
                <a:ea typeface="Cambria" pitchFamily="34" charset="-122"/>
                <a:cs typeface="Cambria" pitchFamily="34" charset="-120"/>
              </a:rPr>
              <a:t>+51.5%</a:t>
            </a:r>
            <a:endParaRPr lang="en-US" sz="4000" dirty="0"/>
          </a:p>
        </p:txBody>
      </p:sp>
      <p:sp>
        <p:nvSpPr>
          <p:cNvPr id="12" name="Text 10"/>
          <p:cNvSpPr txBox="1"/>
          <p:nvPr/>
        </p:nvSpPr>
        <p:spPr>
          <a:xfrm>
            <a:off x="8321040" y="3154680"/>
            <a:ext cx="3200400" cy="1005840"/>
          </a:xfrm>
          <a:prstGeom prst="rect">
            <a:avLst/>
          </a:prstGeom>
          <a:noFill/>
          <a:ln/>
        </p:spPr>
        <p:txBody>
          <a:bodyPr wrap="square" rtlCol="0" anchor="ctr"/>
          <a:lstStyle/>
          <a:p>
            <a:pPr algn="ctr" indent="0" marL="0">
              <a:lnSpc>
                <a:spcPct val="120000"/>
              </a:lnSpc>
              <a:buNone/>
            </a:pPr>
            <a:r>
              <a:rPr lang="en-US" sz="1250" dirty="0">
                <a:solidFill>
                  <a:srgbClr val="C7D2FE"/>
                </a:solidFill>
                <a:latin typeface="Calibri" pitchFamily="34" charset="0"/>
                <a:ea typeface="Calibri" pitchFamily="34" charset="-122"/>
                <a:cs typeface="Calibri" pitchFamily="34" charset="-120"/>
              </a:rPr>
              <a:t>worst overload from a</a:t>
            </a:r>
            <a:endParaRPr lang="en-US" sz="1250" dirty="0"/>
          </a:p>
          <a:p>
            <a:pPr algn="ctr" indent="0" marL="0">
              <a:lnSpc>
                <a:spcPct val="120000"/>
              </a:lnSpc>
              <a:buNone/>
            </a:pPr>
            <a:r>
              <a:rPr lang="en-US" sz="1250" dirty="0">
                <a:solidFill>
                  <a:srgbClr val="C7D2FE"/>
                </a:solidFill>
                <a:latin typeface="Calibri" pitchFamily="34" charset="0"/>
                <a:ea typeface="Calibri" pitchFamily="34" charset="-122"/>
                <a:cs typeface="Calibri" pitchFamily="34" charset="-120"/>
              </a:rPr>
              <a:t>PRECEDENCE-ONLY (demand-blind) split</a:t>
            </a:r>
            <a:endParaRPr lang="en-US" sz="1250" dirty="0"/>
          </a:p>
        </p:txBody>
      </p:sp>
      <p:sp>
        <p:nvSpPr>
          <p:cNvPr id="13" name="Text 11"/>
          <p:cNvSpPr txBox="1"/>
          <p:nvPr/>
        </p:nvSpPr>
        <p:spPr>
          <a:xfrm>
            <a:off x="548640" y="4617720"/>
            <a:ext cx="11064240" cy="1508760"/>
          </a:xfrm>
          <a:prstGeom prst="rect">
            <a:avLst/>
          </a:prstGeom>
          <a:noFill/>
          <a:ln/>
        </p:spPr>
        <p:txBody>
          <a:bodyPr wrap="square" rtlCol="0" anchor="ctr"/>
          <a:lstStyle/>
          <a:p>
            <a:pPr indent="0" marL="0">
              <a:lnSpc>
                <a:spcPct val="130000"/>
              </a:lnSpc>
              <a:buNone/>
            </a:pPr>
            <a:r>
              <a:rPr lang="en-US" sz="1400" dirty="0">
                <a:solidFill>
                  <a:srgbClr val="E0E7FF"/>
                </a:solidFill>
                <a:latin typeface="Calibri" pitchFamily="34" charset="0"/>
                <a:ea typeface="Calibri" pitchFamily="34" charset="-122"/>
                <a:cs typeface="Calibri" pitchFamily="34" charset="-120"/>
              </a:rPr>
              <a:t>Handling one constraint type correctly doesn't mean the fleet-dispatch DECISION stays valid once a second constraint type enters: the demand-blind PRECEDENCE-ONLY split additionally put the two stops on different vehicles entirely in 1/14 trials — the split itself became incompatible with the rule — and overloaded a vehicle in 13/13 of the rest. Composing constraint types into one solve_multi_vehicle call, not any single type alone, is what keeps the whole decision valid — and it's the finding neither prior-art paper in the patent-readiness report covers (see "Why this is patent-shaped").</a:t>
            </a:r>
            <a:endParaRPr lang="en-US" sz="1400" dirty="0"/>
          </a:p>
        </p:txBody>
      </p:sp>
      <p:sp>
        <p:nvSpPr>
          <p:cNvPr id="14" name="Text 12"/>
          <p:cNvSpPr txBox="1"/>
          <p:nvPr/>
        </p:nvSpPr>
        <p:spPr>
          <a:xfrm>
            <a:off x="54864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Quantum-Inspired Traffic Router  ·  SIH26137</a:t>
            </a:r>
            <a:endParaRPr lang="en-US" sz="900" dirty="0"/>
          </a:p>
        </p:txBody>
      </p:sp>
      <p:sp>
        <p:nvSpPr>
          <p:cNvPr id="15" name="Text 13"/>
          <p:cNvSpPr txBox="1"/>
          <p:nvPr/>
        </p:nvSpPr>
        <p:spPr>
          <a:xfrm>
            <a:off x="11521440" y="6473952"/>
            <a:ext cx="365760"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65760"/>
          </a:xfrm>
          <a:prstGeom prst="rect">
            <a:avLst/>
          </a:prstGeom>
          <a:noFill/>
          <a:ln/>
        </p:spPr>
        <p:txBody>
          <a:bodyPr wrap="square" rtlCol="0" anchor="ctr"/>
          <a:lstStyle/>
          <a:p>
            <a:pPr indent="0" marL="0">
              <a:buNone/>
            </a:pPr>
            <a:r>
              <a:rPr lang="en-US" sz="1300" b="1" spc="200" kern="0" dirty="0">
                <a:solidFill>
                  <a:srgbClr val="7C3AED"/>
                </a:solidFill>
                <a:latin typeface="Calibri" pitchFamily="34" charset="0"/>
                <a:ea typeface="Calibri" pitchFamily="34" charset="-122"/>
                <a:cs typeface="Calibri" pitchFamily="34" charset="-120"/>
              </a:rPr>
              <a:t>BENCHMARK — EXPERIMENT 4</a:t>
            </a:r>
            <a:endParaRPr lang="en-US" sz="1300" dirty="0"/>
          </a:p>
        </p:txBody>
      </p:sp>
      <p:sp>
        <p:nvSpPr>
          <p:cNvPr id="3" name="Text 1"/>
          <p:cNvSpPr txBox="1"/>
          <p:nvPr/>
        </p:nvSpPr>
        <p:spPr>
          <a:xfrm>
            <a:off x="548640" y="640080"/>
            <a:ext cx="10789920" cy="822960"/>
          </a:xfrm>
          <a:prstGeom prst="rect">
            <a:avLst/>
          </a:prstGeom>
          <a:noFill/>
          <a:ln/>
        </p:spPr>
        <p:txBody>
          <a:bodyPr wrap="square" rtlCol="0" anchor="ctr"/>
          <a:lstStyle/>
          <a:p>
            <a:pPr indent="0" marL="0">
              <a:buNone/>
            </a:pPr>
            <a:r>
              <a:rPr lang="en-US" sz="3200" b="1" dirty="0">
                <a:solidFill>
                  <a:srgbClr val="1E1B4B"/>
                </a:solidFill>
                <a:latin typeface="Cambria" pitchFamily="34" charset="0"/>
                <a:ea typeface="Cambria" pitchFamily="34" charset="-122"/>
                <a:cs typeface="Cambria" pitchFamily="34" charset="-120"/>
              </a:rPr>
              <a:t>Time and distance are a real trade-off, not one number twice</a:t>
            </a:r>
            <a:endParaRPr lang="en-US" sz="3200" dirty="0"/>
          </a:p>
        </p:txBody>
      </p:sp>
      <p:sp>
        <p:nvSpPr>
          <p:cNvPr id="4" name="Text 2"/>
          <p:cNvSpPr txBox="1"/>
          <p:nvPr/>
        </p:nvSpPr>
        <p:spPr>
          <a:xfrm>
            <a:off x="548640" y="1737360"/>
            <a:ext cx="11064240" cy="1051560"/>
          </a:xfrm>
          <a:prstGeom prst="rect">
            <a:avLst/>
          </a:prstGeom>
          <a:noFill/>
          <a:ln/>
        </p:spPr>
        <p:txBody>
          <a:bodyPr wrap="square" rtlCol="0" anchor="ctr"/>
          <a:lstStyle/>
          <a:p>
            <a:pPr indent="0" marL="0">
              <a:lnSpc>
                <a:spcPct val="130000"/>
              </a:lnSpc>
              <a:buNone/>
            </a:pPr>
            <a:r>
              <a:rPr lang="en-US" sz="1500" dirty="0">
                <a:solidFill>
                  <a:srgbClr val="475569"/>
                </a:solidFill>
                <a:latin typeface="Calibri" pitchFamily="34" charset="0"/>
                <a:ea typeface="Calibri" pitchFamily="34" charset="-122"/>
                <a:cs typeface="Calibri" pitchFamily="34" charset="-120"/>
              </a:rPr>
              <a:t>For each waypoint set, the TRUE fastest tour and the TRUE shortest tour are found by exhaustive search, then each is scored against the OTHER objective to measure what optimizing for only one actually costs. combine_objectives() lets the same QUBO solver minimize a weighted sum of both — zero changes to the underlying formulation.</a:t>
            </a:r>
            <a:endParaRPr lang="en-US" sz="1500" dirty="0"/>
          </a:p>
        </p:txBody>
      </p:sp>
      <p:sp>
        <p:nvSpPr>
          <p:cNvPr id="5" name="Shape 3"/>
          <p:cNvSpPr/>
          <p:nvPr/>
        </p:nvSpPr>
        <p:spPr>
          <a:xfrm>
            <a:off x="548640" y="3017520"/>
            <a:ext cx="3566160" cy="2651760"/>
          </a:xfrm>
          <a:prstGeom prst="roundRect">
            <a:avLst>
              <a:gd name="adj" fmla="val 4138"/>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6" name="Text 4"/>
          <p:cNvSpPr txBox="1"/>
          <p:nvPr/>
        </p:nvSpPr>
        <p:spPr>
          <a:xfrm>
            <a:off x="548640" y="3246120"/>
            <a:ext cx="3566160" cy="1234440"/>
          </a:xfrm>
          <a:prstGeom prst="rect">
            <a:avLst/>
          </a:prstGeom>
          <a:noFill/>
          <a:ln/>
        </p:spPr>
        <p:txBody>
          <a:bodyPr wrap="square" rtlCol="0" anchor="ctr"/>
          <a:lstStyle/>
          <a:p>
            <a:pPr algn="ctr" indent="0" marL="0">
              <a:lnSpc>
                <a:spcPct val="105000"/>
              </a:lnSpc>
              <a:buNone/>
            </a:pPr>
            <a:r>
              <a:rPr lang="en-US" sz="2600" b="1" dirty="0">
                <a:solidFill>
                  <a:srgbClr val="7C3AED"/>
                </a:solidFill>
                <a:latin typeface="Cambria" pitchFamily="34" charset="0"/>
                <a:ea typeface="Cambria" pitchFamily="34" charset="-122"/>
                <a:cs typeface="Cambria" pitchFamily="34" charset="-120"/>
              </a:rPr>
              <a:t>7/12</a:t>
            </a:r>
            <a:endParaRPr lang="en-US" sz="2600" dirty="0"/>
          </a:p>
        </p:txBody>
      </p:sp>
      <p:sp>
        <p:nvSpPr>
          <p:cNvPr id="7" name="Text 5"/>
          <p:cNvSpPr txBox="1"/>
          <p:nvPr/>
        </p:nvSpPr>
        <p:spPr>
          <a:xfrm>
            <a:off x="731520" y="4526280"/>
            <a:ext cx="3200400" cy="1005840"/>
          </a:xfrm>
          <a:prstGeom prst="rect">
            <a:avLst/>
          </a:prstGeom>
          <a:noFill/>
          <a:ln/>
        </p:spPr>
        <p:txBody>
          <a:bodyPr wrap="square" rtlCol="0" anchor="ctr"/>
          <a:lstStyle/>
          <a:p>
            <a:pPr algn="ctr" indent="0" marL="0">
              <a:lnSpc>
                <a:spcPct val="120000"/>
              </a:lnSpc>
              <a:buNone/>
            </a:pPr>
            <a:r>
              <a:rPr lang="en-US" sz="1250" dirty="0">
                <a:solidFill>
                  <a:srgbClr val="475569"/>
                </a:solidFill>
                <a:latin typeface="Calibri" pitchFamily="34" charset="0"/>
                <a:ea typeface="Calibri" pitchFamily="34" charset="-122"/>
                <a:cs typeface="Calibri" pitchFamily="34" charset="-120"/>
              </a:rPr>
              <a:t>trials where optimizing for only</a:t>
            </a:r>
            <a:endParaRPr lang="en-US" sz="1250" dirty="0"/>
          </a:p>
          <a:p>
            <a:pPr algn="ctr" indent="0" marL="0">
              <a:lnSpc>
                <a:spcPct val="120000"/>
              </a:lnSpc>
              <a:buNone/>
            </a:pPr>
            <a:r>
              <a:rPr lang="en-US" sz="1250" dirty="0">
                <a:solidFill>
                  <a:srgbClr val="475569"/>
                </a:solidFill>
                <a:latin typeface="Calibri" pitchFamily="34" charset="0"/>
                <a:ea typeface="Calibri" pitchFamily="34" charset="-122"/>
                <a:cs typeface="Calibri" pitchFamily="34" charset="-120"/>
              </a:rPr>
              <a:t>one objective provably costs the other</a:t>
            </a:r>
            <a:endParaRPr lang="en-US" sz="1250" dirty="0"/>
          </a:p>
        </p:txBody>
      </p:sp>
      <p:sp>
        <p:nvSpPr>
          <p:cNvPr id="8" name="Shape 6"/>
          <p:cNvSpPr/>
          <p:nvPr/>
        </p:nvSpPr>
        <p:spPr>
          <a:xfrm>
            <a:off x="4343400" y="3017520"/>
            <a:ext cx="3566160" cy="2651760"/>
          </a:xfrm>
          <a:prstGeom prst="roundRect">
            <a:avLst>
              <a:gd name="adj" fmla="val 4138"/>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9" name="Text 7"/>
          <p:cNvSpPr txBox="1"/>
          <p:nvPr/>
        </p:nvSpPr>
        <p:spPr>
          <a:xfrm>
            <a:off x="4343400" y="3246120"/>
            <a:ext cx="3566160" cy="1234440"/>
          </a:xfrm>
          <a:prstGeom prst="rect">
            <a:avLst/>
          </a:prstGeom>
          <a:noFill/>
          <a:ln/>
        </p:spPr>
        <p:txBody>
          <a:bodyPr wrap="square" rtlCol="0" anchor="ctr"/>
          <a:lstStyle/>
          <a:p>
            <a:pPr algn="ctr" indent="0" marL="0">
              <a:lnSpc>
                <a:spcPct val="105000"/>
              </a:lnSpc>
              <a:buNone/>
            </a:pPr>
            <a:r>
              <a:rPr lang="en-US" sz="2600" b="1" dirty="0">
                <a:solidFill>
                  <a:srgbClr val="F97316"/>
                </a:solidFill>
                <a:latin typeface="Cambria" pitchFamily="34" charset="0"/>
                <a:ea typeface="Cambria" pitchFamily="34" charset="-122"/>
                <a:cs typeface="Cambria" pitchFamily="34" charset="-120"/>
              </a:rPr>
              <a:t>+1.0% avg</a:t>
            </a:r>
            <a:endParaRPr lang="en-US" sz="2600" dirty="0"/>
          </a:p>
          <a:p>
            <a:pPr algn="ctr" indent="0" marL="0">
              <a:lnSpc>
                <a:spcPct val="105000"/>
              </a:lnSpc>
              <a:buNone/>
            </a:pPr>
            <a:r>
              <a:rPr lang="en-US" sz="2600" b="1" dirty="0">
                <a:solidFill>
                  <a:srgbClr val="F97316"/>
                </a:solidFill>
                <a:latin typeface="Cambria" pitchFamily="34" charset="0"/>
                <a:ea typeface="Cambria" pitchFamily="34" charset="-122"/>
                <a:cs typeface="Cambria" pitchFamily="34" charset="-120"/>
              </a:rPr>
              <a:t>+1.9% worst</a:t>
            </a:r>
            <a:endParaRPr lang="en-US" sz="2600" dirty="0"/>
          </a:p>
        </p:txBody>
      </p:sp>
      <p:sp>
        <p:nvSpPr>
          <p:cNvPr id="10" name="Text 8"/>
          <p:cNvSpPr txBox="1"/>
          <p:nvPr/>
        </p:nvSpPr>
        <p:spPr>
          <a:xfrm>
            <a:off x="4526280" y="4526280"/>
            <a:ext cx="3200400" cy="1005840"/>
          </a:xfrm>
          <a:prstGeom prst="rect">
            <a:avLst/>
          </a:prstGeom>
          <a:noFill/>
          <a:ln/>
        </p:spPr>
        <p:txBody>
          <a:bodyPr wrap="square" rtlCol="0" anchor="ctr"/>
          <a:lstStyle/>
          <a:p>
            <a:pPr algn="ctr" indent="0" marL="0">
              <a:lnSpc>
                <a:spcPct val="120000"/>
              </a:lnSpc>
              <a:buNone/>
            </a:pPr>
            <a:r>
              <a:rPr lang="en-US" sz="1250" dirty="0">
                <a:solidFill>
                  <a:srgbClr val="475569"/>
                </a:solidFill>
                <a:latin typeface="Calibri" pitchFamily="34" charset="0"/>
                <a:ea typeface="Calibri" pitchFamily="34" charset="-122"/>
                <a:cs typeface="Calibri" pitchFamily="34" charset="-120"/>
              </a:rPr>
              <a:t>extra DISTANCE from</a:t>
            </a:r>
            <a:endParaRPr lang="en-US" sz="1250" dirty="0"/>
          </a:p>
          <a:p>
            <a:pPr algn="ctr" indent="0" marL="0">
              <a:lnSpc>
                <a:spcPct val="120000"/>
              </a:lnSpc>
              <a:buNone/>
            </a:pPr>
            <a:r>
              <a:rPr lang="en-US" sz="1250" dirty="0">
                <a:solidFill>
                  <a:srgbClr val="475569"/>
                </a:solidFill>
                <a:latin typeface="Calibri" pitchFamily="34" charset="0"/>
                <a:ea typeface="Calibri" pitchFamily="34" charset="-122"/>
                <a:cs typeface="Calibri" pitchFamily="34" charset="-120"/>
              </a:rPr>
              <a:t>optimizing time only, when they differ</a:t>
            </a:r>
            <a:endParaRPr lang="en-US" sz="1250" dirty="0"/>
          </a:p>
        </p:txBody>
      </p:sp>
      <p:sp>
        <p:nvSpPr>
          <p:cNvPr id="11" name="Shape 9"/>
          <p:cNvSpPr/>
          <p:nvPr/>
        </p:nvSpPr>
        <p:spPr>
          <a:xfrm>
            <a:off x="8138160" y="3017520"/>
            <a:ext cx="3566160" cy="2651760"/>
          </a:xfrm>
          <a:prstGeom prst="roundRect">
            <a:avLst>
              <a:gd name="adj" fmla="val 4138"/>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12" name="Text 10"/>
          <p:cNvSpPr txBox="1"/>
          <p:nvPr/>
        </p:nvSpPr>
        <p:spPr>
          <a:xfrm>
            <a:off x="8138160" y="3246120"/>
            <a:ext cx="3566160" cy="1234440"/>
          </a:xfrm>
          <a:prstGeom prst="rect">
            <a:avLst/>
          </a:prstGeom>
          <a:noFill/>
          <a:ln/>
        </p:spPr>
        <p:txBody>
          <a:bodyPr wrap="square" rtlCol="0" anchor="ctr"/>
          <a:lstStyle/>
          <a:p>
            <a:pPr algn="ctr" indent="0" marL="0">
              <a:lnSpc>
                <a:spcPct val="105000"/>
              </a:lnSpc>
              <a:buNone/>
            </a:pPr>
            <a:r>
              <a:rPr lang="en-US" sz="2600" b="1" dirty="0">
                <a:solidFill>
                  <a:srgbClr val="F97316"/>
                </a:solidFill>
                <a:latin typeface="Cambria" pitchFamily="34" charset="0"/>
                <a:ea typeface="Cambria" pitchFamily="34" charset="-122"/>
                <a:cs typeface="Cambria" pitchFamily="34" charset="-120"/>
              </a:rPr>
              <a:t>+0.8% avg</a:t>
            </a:r>
            <a:endParaRPr lang="en-US" sz="2600" dirty="0"/>
          </a:p>
          <a:p>
            <a:pPr algn="ctr" indent="0" marL="0">
              <a:lnSpc>
                <a:spcPct val="105000"/>
              </a:lnSpc>
              <a:buNone/>
            </a:pPr>
            <a:r>
              <a:rPr lang="en-US" sz="2600" b="1" dirty="0">
                <a:solidFill>
                  <a:srgbClr val="F97316"/>
                </a:solidFill>
                <a:latin typeface="Cambria" pitchFamily="34" charset="0"/>
                <a:ea typeface="Cambria" pitchFamily="34" charset="-122"/>
                <a:cs typeface="Cambria" pitchFamily="34" charset="-120"/>
              </a:rPr>
              <a:t>+2.4% worst</a:t>
            </a:r>
            <a:endParaRPr lang="en-US" sz="2600" dirty="0"/>
          </a:p>
        </p:txBody>
      </p:sp>
      <p:sp>
        <p:nvSpPr>
          <p:cNvPr id="13" name="Text 11"/>
          <p:cNvSpPr txBox="1"/>
          <p:nvPr/>
        </p:nvSpPr>
        <p:spPr>
          <a:xfrm>
            <a:off x="8321040" y="4526280"/>
            <a:ext cx="3200400" cy="1005840"/>
          </a:xfrm>
          <a:prstGeom prst="rect">
            <a:avLst/>
          </a:prstGeom>
          <a:noFill/>
          <a:ln/>
        </p:spPr>
        <p:txBody>
          <a:bodyPr wrap="square" rtlCol="0" anchor="ctr"/>
          <a:lstStyle/>
          <a:p>
            <a:pPr algn="ctr" indent="0" marL="0">
              <a:lnSpc>
                <a:spcPct val="120000"/>
              </a:lnSpc>
              <a:buNone/>
            </a:pPr>
            <a:r>
              <a:rPr lang="en-US" sz="1250" dirty="0">
                <a:solidFill>
                  <a:srgbClr val="475569"/>
                </a:solidFill>
                <a:latin typeface="Calibri" pitchFamily="34" charset="0"/>
                <a:ea typeface="Calibri" pitchFamily="34" charset="-122"/>
                <a:cs typeface="Calibri" pitchFamily="34" charset="-120"/>
              </a:rPr>
              <a:t>extra TIME from</a:t>
            </a:r>
            <a:endParaRPr lang="en-US" sz="1250" dirty="0"/>
          </a:p>
          <a:p>
            <a:pPr algn="ctr" indent="0" marL="0">
              <a:lnSpc>
                <a:spcPct val="120000"/>
              </a:lnSpc>
              <a:buNone/>
            </a:pPr>
            <a:r>
              <a:rPr lang="en-US" sz="1250" dirty="0">
                <a:solidFill>
                  <a:srgbClr val="475569"/>
                </a:solidFill>
                <a:latin typeface="Calibri" pitchFamily="34" charset="0"/>
                <a:ea typeface="Calibri" pitchFamily="34" charset="-122"/>
                <a:cs typeface="Calibri" pitchFamily="34" charset="-120"/>
              </a:rPr>
              <a:t>optimizing distance only, when they differ</a:t>
            </a:r>
            <a:endParaRPr lang="en-US" sz="1250" dirty="0"/>
          </a:p>
        </p:txBody>
      </p:sp>
      <p:sp>
        <p:nvSpPr>
          <p:cNvPr id="14" name="Text 12"/>
          <p:cNvSpPr txBox="1"/>
          <p:nvPr/>
        </p:nvSpPr>
        <p:spPr>
          <a:xfrm>
            <a:off x="54864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Quantum-Inspired Traffic Router  ·  SIH26137</a:t>
            </a:r>
            <a:endParaRPr lang="en-US" sz="900" dirty="0"/>
          </a:p>
        </p:txBody>
      </p:sp>
      <p:sp>
        <p:nvSpPr>
          <p:cNvPr id="15" name="Text 13"/>
          <p:cNvSpPr txBox="1"/>
          <p:nvPr/>
        </p:nvSpPr>
        <p:spPr>
          <a:xfrm>
            <a:off x="11521440" y="6473952"/>
            <a:ext cx="365760"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65760"/>
          </a:xfrm>
          <a:prstGeom prst="rect">
            <a:avLst/>
          </a:prstGeom>
          <a:noFill/>
          <a:ln/>
        </p:spPr>
        <p:txBody>
          <a:bodyPr wrap="square" rtlCol="0" anchor="ctr"/>
          <a:lstStyle/>
          <a:p>
            <a:pPr indent="0" marL="0">
              <a:buNone/>
            </a:pPr>
            <a:r>
              <a:rPr lang="en-US" sz="1300" b="1" spc="200" kern="0" dirty="0">
                <a:solidFill>
                  <a:srgbClr val="F97316"/>
                </a:solidFill>
                <a:latin typeface="Calibri" pitchFamily="34" charset="0"/>
                <a:ea typeface="Calibri" pitchFamily="34" charset="-122"/>
                <a:cs typeface="Calibri" pitchFamily="34" charset="-120"/>
              </a:rPr>
              <a:t>BENCHMARK — EXPERIMENT 5</a:t>
            </a:r>
            <a:endParaRPr lang="en-US" sz="1300" dirty="0"/>
          </a:p>
        </p:txBody>
      </p:sp>
      <p:sp>
        <p:nvSpPr>
          <p:cNvPr id="3" name="Text 1"/>
          <p:cNvSpPr txBox="1"/>
          <p:nvPr/>
        </p:nvSpPr>
        <p:spPr>
          <a:xfrm>
            <a:off x="548640" y="640080"/>
            <a:ext cx="10789920" cy="822960"/>
          </a:xfrm>
          <a:prstGeom prst="rect">
            <a:avLst/>
          </a:prstGeom>
          <a:noFill/>
          <a:ln/>
        </p:spPr>
        <p:txBody>
          <a:bodyPr wrap="square" rtlCol="0" anchor="ctr"/>
          <a:lstStyle/>
          <a:p>
            <a:pPr indent="0" marL="0">
              <a:buNone/>
            </a:pPr>
            <a:r>
              <a:rPr lang="en-US" sz="3200" b="1" dirty="0">
                <a:solidFill>
                  <a:srgbClr val="1E1B4B"/>
                </a:solidFill>
                <a:latin typeface="Cambria" pitchFamily="34" charset="0"/>
                <a:ea typeface="Cambria" pitchFamily="34" charset="-122"/>
                <a:cs typeface="Cambria" pitchFamily="34" charset="-120"/>
              </a:rPr>
              <a:t>Time-window pruning helps — it is not a wall-clock guarantee</a:t>
            </a:r>
            <a:endParaRPr lang="en-US" sz="3200" dirty="0"/>
          </a:p>
        </p:txBody>
      </p:sp>
      <p:sp>
        <p:nvSpPr>
          <p:cNvPr id="4" name="Shape 2"/>
          <p:cNvSpPr/>
          <p:nvPr/>
        </p:nvSpPr>
        <p:spPr>
          <a:xfrm>
            <a:off x="548640" y="1737360"/>
            <a:ext cx="11064240" cy="4343400"/>
          </a:xfrm>
          <a:prstGeom prst="roundRect">
            <a:avLst>
              <a:gd name="adj" fmla="val 2526"/>
            </a:avLst>
          </a:prstGeom>
          <a:solidFill>
            <a:srgbClr val="1E1B4B"/>
          </a:solidFill>
          <a:ln/>
          <a:effectLst>
            <a:outerShdw sx="100000" sy="100000" kx="0" ky="0" algn="bl" rotWithShape="0" blurRad="76200" dist="38100" dir="5400000">
              <a:srgbClr val="0F172A">
                <a:alpha val="25000"/>
              </a:srgbClr>
            </a:outerShdw>
          </a:effectLst>
        </p:spPr>
      </p:sp>
      <p:sp>
        <p:nvSpPr>
          <p:cNvPr id="5" name="Text 3"/>
          <p:cNvSpPr txBox="1"/>
          <p:nvPr/>
        </p:nvSpPr>
        <p:spPr>
          <a:xfrm>
            <a:off x="914400" y="2011680"/>
            <a:ext cx="4937760" cy="1051560"/>
          </a:xfrm>
          <a:prstGeom prst="rect">
            <a:avLst/>
          </a:prstGeom>
          <a:noFill/>
          <a:ln/>
        </p:spPr>
        <p:txBody>
          <a:bodyPr wrap="square" rtlCol="0" anchor="ctr"/>
          <a:lstStyle/>
          <a:p>
            <a:pPr algn="ctr" indent="0" marL="0">
              <a:buNone/>
            </a:pPr>
            <a:r>
              <a:rPr lang="en-US" sz="4000" b="1" dirty="0">
                <a:solidFill>
                  <a:srgbClr val="F97316"/>
                </a:solidFill>
                <a:latin typeface="Cambria" pitchFamily="34" charset="0"/>
                <a:ea typeface="Cambria" pitchFamily="34" charset="-122"/>
                <a:cs typeface="Cambria" pitchFamily="34" charset="-120"/>
              </a:rPr>
              <a:t>0/15</a:t>
            </a:r>
            <a:endParaRPr lang="en-US" sz="4000" dirty="0"/>
          </a:p>
        </p:txBody>
      </p:sp>
      <p:sp>
        <p:nvSpPr>
          <p:cNvPr id="6" name="Text 4"/>
          <p:cNvSpPr txBox="1"/>
          <p:nvPr/>
        </p:nvSpPr>
        <p:spPr>
          <a:xfrm>
            <a:off x="914400" y="3063240"/>
            <a:ext cx="4937760" cy="822960"/>
          </a:xfrm>
          <a:prstGeom prst="rect">
            <a:avLst/>
          </a:prstGeom>
          <a:noFill/>
          <a:ln/>
        </p:spPr>
        <p:txBody>
          <a:bodyPr wrap="square" rtlCol="0" anchor="ctr"/>
          <a:lstStyle/>
          <a:p>
            <a:pPr algn="ctr" indent="0" marL="0">
              <a:lnSpc>
                <a:spcPct val="120000"/>
              </a:lnSpc>
              <a:buNone/>
            </a:pPr>
            <a:r>
              <a:rPr lang="en-US" sz="1300" dirty="0">
                <a:solidFill>
                  <a:srgbClr val="C7D2FE"/>
                </a:solidFill>
                <a:latin typeface="Calibri" pitchFamily="34" charset="0"/>
                <a:ea typeface="Calibri" pitchFamily="34" charset="-122"/>
                <a:cs typeface="Calibri" pitchFamily="34" charset="-120"/>
              </a:rPr>
              <a:t>WITHOUT position pruning, the unconstrained</a:t>
            </a:r>
            <a:endParaRPr lang="en-US" sz="1300" dirty="0"/>
          </a:p>
          <a:p>
            <a:pPr algn="ctr" indent="0" marL="0">
              <a:lnSpc>
                <a:spcPct val="120000"/>
              </a:lnSpc>
              <a:buNone/>
            </a:pPr>
            <a:r>
              <a:rPr lang="en-US" sz="1300" dirty="0">
                <a:solidFill>
                  <a:srgbClr val="C7D2FE"/>
                </a:solidFill>
                <a:latin typeface="Calibri" pitchFamily="34" charset="0"/>
                <a:ea typeface="Calibri" pitchFamily="34" charset="-122"/>
                <a:cs typeface="Calibri" pitchFamily="34" charset="-120"/>
              </a:rPr>
              <a:t>schedule already satisfied the window</a:t>
            </a:r>
            <a:endParaRPr lang="en-US" sz="1300" dirty="0"/>
          </a:p>
        </p:txBody>
      </p:sp>
      <p:sp>
        <p:nvSpPr>
          <p:cNvPr id="7" name="Text 5"/>
          <p:cNvSpPr txBox="1"/>
          <p:nvPr/>
        </p:nvSpPr>
        <p:spPr>
          <a:xfrm>
            <a:off x="6126480" y="2011680"/>
            <a:ext cx="4937760" cy="1051560"/>
          </a:xfrm>
          <a:prstGeom prst="rect">
            <a:avLst/>
          </a:prstGeom>
          <a:noFill/>
          <a:ln/>
        </p:spPr>
        <p:txBody>
          <a:bodyPr wrap="square" rtlCol="0" anchor="ctr"/>
          <a:lstStyle/>
          <a:p>
            <a:pPr algn="ctr" indent="0" marL="0">
              <a:buNone/>
            </a:pPr>
            <a:r>
              <a:rPr lang="en-US" sz="4000" b="1" dirty="0">
                <a:solidFill>
                  <a:srgbClr val="22C55E"/>
                </a:solidFill>
                <a:latin typeface="Cambria" pitchFamily="34" charset="0"/>
                <a:ea typeface="Cambria" pitchFamily="34" charset="-122"/>
                <a:cs typeface="Cambria" pitchFamily="34" charset="-120"/>
              </a:rPr>
              <a:t>3/15</a:t>
            </a:r>
            <a:endParaRPr lang="en-US" sz="4000" dirty="0"/>
          </a:p>
        </p:txBody>
      </p:sp>
      <p:sp>
        <p:nvSpPr>
          <p:cNvPr id="8" name="Text 6"/>
          <p:cNvSpPr txBox="1"/>
          <p:nvPr/>
        </p:nvSpPr>
        <p:spPr>
          <a:xfrm>
            <a:off x="6126480" y="3063240"/>
            <a:ext cx="4937760" cy="822960"/>
          </a:xfrm>
          <a:prstGeom prst="rect">
            <a:avLst/>
          </a:prstGeom>
          <a:noFill/>
          <a:ln/>
        </p:spPr>
        <p:txBody>
          <a:bodyPr wrap="square" rtlCol="0" anchor="ctr"/>
          <a:lstStyle/>
          <a:p>
            <a:pPr algn="ctr" indent="0" marL="0">
              <a:lnSpc>
                <a:spcPct val="120000"/>
              </a:lnSpc>
              <a:buNone/>
            </a:pPr>
            <a:r>
              <a:rPr lang="en-US" sz="1300" dirty="0">
                <a:solidFill>
                  <a:srgbClr val="C7D2FE"/>
                </a:solidFill>
                <a:latin typeface="Calibri" pitchFamily="34" charset="0"/>
                <a:ea typeface="Calibri" pitchFamily="34" charset="-122"/>
                <a:cs typeface="Calibri" pitchFamily="34" charset="-120"/>
              </a:rPr>
              <a:t>WITH position pruning, the</a:t>
            </a:r>
            <a:endParaRPr lang="en-US" sz="1300" dirty="0"/>
          </a:p>
          <a:p>
            <a:pPr algn="ctr" indent="0" marL="0">
              <a:lnSpc>
                <a:spcPct val="120000"/>
              </a:lnSpc>
              <a:buNone/>
            </a:pPr>
            <a:r>
              <a:rPr lang="en-US" sz="1300" dirty="0">
                <a:solidFill>
                  <a:srgbClr val="C7D2FE"/>
                </a:solidFill>
                <a:latin typeface="Calibri" pitchFamily="34" charset="0"/>
                <a:ea typeface="Calibri" pitchFamily="34" charset="-122"/>
                <a:cs typeface="Calibri" pitchFamily="34" charset="-120"/>
              </a:rPr>
              <a:t>window was actually satisfied</a:t>
            </a:r>
            <a:endParaRPr lang="en-US" sz="1300" dirty="0"/>
          </a:p>
        </p:txBody>
      </p:sp>
      <p:sp>
        <p:nvSpPr>
          <p:cNvPr id="9" name="Shape 7"/>
          <p:cNvSpPr/>
          <p:nvPr/>
        </p:nvSpPr>
        <p:spPr>
          <a:xfrm>
            <a:off x="1097280" y="4023360"/>
            <a:ext cx="9966960" cy="0"/>
          </a:xfrm>
          <a:prstGeom prst="line">
            <a:avLst/>
          </a:prstGeom>
          <a:noFill/>
          <a:ln w="12700">
            <a:solidFill>
              <a:srgbClr val="3730A3"/>
            </a:solidFill>
            <a:prstDash val="solid"/>
          </a:ln>
        </p:spPr>
      </p:sp>
      <p:sp>
        <p:nvSpPr>
          <p:cNvPr id="10" name="Text 8"/>
          <p:cNvSpPr txBox="1"/>
          <p:nvPr/>
        </p:nvSpPr>
        <p:spPr>
          <a:xfrm>
            <a:off x="914400" y="4206240"/>
            <a:ext cx="10332720" cy="1691640"/>
          </a:xfrm>
          <a:prstGeom prst="rect">
            <a:avLst/>
          </a:prstGeom>
          <a:noFill/>
          <a:ln/>
        </p:spPr>
        <p:txBody>
          <a:bodyPr wrap="square" rtlCol="0" anchor="ctr"/>
          <a:lstStyle/>
          <a:p>
            <a:pPr indent="0" marL="0">
              <a:lnSpc>
                <a:spcPct val="130000"/>
              </a:lnSpc>
              <a:buNone/>
            </a:pPr>
            <a:r>
              <a:rPr lang="en-US" sz="1300" dirty="0">
                <a:solidFill>
                  <a:srgbClr val="E0E7FF"/>
                </a:solidFill>
                <a:latin typeface="Calibri" pitchFamily="34" charset="0"/>
                <a:ea typeface="Calibri" pitchFamily="34" charset="-122"/>
                <a:cs typeface="Calibri" pitchFamily="34" charset="-120"/>
              </a:rPr>
              <a:t>The QUBO encodes a tour by POSITION, not clock time — so a provably-safe prune of positions that could never satisfy a window measurably helps (never worse than no time-awareness at all) but isn't a satisfaction guarantee: two tours can share the same allowed position while arriving at very different real times. A true wall-clock guarantee needs a different formulation (arc-based variables plus time propagation) — flagged as the highest-formulation-risk roadmap item, not claimed solved here.</a:t>
            </a:r>
            <a:endParaRPr lang="en-US" sz="1300" dirty="0"/>
          </a:p>
        </p:txBody>
      </p:sp>
      <p:sp>
        <p:nvSpPr>
          <p:cNvPr id="11" name="Text 9"/>
          <p:cNvSpPr txBox="1"/>
          <p:nvPr/>
        </p:nvSpPr>
        <p:spPr>
          <a:xfrm>
            <a:off x="54864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Quantum-Inspired Traffic Router  ·  SIH26137</a:t>
            </a:r>
            <a:endParaRPr lang="en-US" sz="900" dirty="0"/>
          </a:p>
        </p:txBody>
      </p:sp>
      <p:sp>
        <p:nvSpPr>
          <p:cNvPr id="12" name="Text 10"/>
          <p:cNvSpPr txBox="1"/>
          <p:nvPr/>
        </p:nvSpPr>
        <p:spPr>
          <a:xfrm>
            <a:off x="11521440" y="6473952"/>
            <a:ext cx="365760"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65760"/>
          </a:xfrm>
          <a:prstGeom prst="rect">
            <a:avLst/>
          </a:prstGeom>
          <a:noFill/>
          <a:ln/>
        </p:spPr>
        <p:txBody>
          <a:bodyPr wrap="square" rtlCol="0" anchor="ctr"/>
          <a:lstStyle/>
          <a:p>
            <a:pPr indent="0" marL="0">
              <a:buNone/>
            </a:pPr>
            <a:r>
              <a:rPr lang="en-US" sz="1300" b="1" spc="200" kern="0" dirty="0">
                <a:solidFill>
                  <a:srgbClr val="7C3AED"/>
                </a:solidFill>
                <a:latin typeface="Calibri" pitchFamily="34" charset="0"/>
                <a:ea typeface="Calibri" pitchFamily="34" charset="-122"/>
                <a:cs typeface="Calibri" pitchFamily="34" charset="-120"/>
              </a:rPr>
              <a:t>BEYOND ONE VEHICLE</a:t>
            </a:r>
            <a:endParaRPr lang="en-US" sz="1300" dirty="0"/>
          </a:p>
        </p:txBody>
      </p:sp>
      <p:sp>
        <p:nvSpPr>
          <p:cNvPr id="3" name="Text 1"/>
          <p:cNvSpPr txBox="1"/>
          <p:nvPr/>
        </p:nvSpPr>
        <p:spPr>
          <a:xfrm>
            <a:off x="548640" y="640080"/>
            <a:ext cx="10789920" cy="822960"/>
          </a:xfrm>
          <a:prstGeom prst="rect">
            <a:avLst/>
          </a:prstGeom>
          <a:noFill/>
          <a:ln/>
        </p:spPr>
        <p:txBody>
          <a:bodyPr wrap="square" rtlCol="0" anchor="ctr"/>
          <a:lstStyle/>
          <a:p>
            <a:pPr indent="0" marL="0">
              <a:buNone/>
            </a:pPr>
            <a:r>
              <a:rPr lang="en-US" sz="3200" b="1" dirty="0">
                <a:solidFill>
                  <a:srgbClr val="1E1B4B"/>
                </a:solidFill>
                <a:latin typeface="Cambria" pitchFamily="34" charset="0"/>
                <a:ea typeface="Cambria" pitchFamily="34" charset="-122"/>
                <a:cs typeface="Cambria" pitchFamily="34" charset="-120"/>
              </a:rPr>
              <a:t>Multi-vehicle dispatch, with capacity that means what it says</a:t>
            </a:r>
            <a:endParaRPr lang="en-US" sz="3200" dirty="0"/>
          </a:p>
        </p:txBody>
      </p:sp>
      <p:sp>
        <p:nvSpPr>
          <p:cNvPr id="4" name="Shape 2"/>
          <p:cNvSpPr/>
          <p:nvPr/>
        </p:nvSpPr>
        <p:spPr>
          <a:xfrm>
            <a:off x="548640" y="1874520"/>
            <a:ext cx="457200" cy="457200"/>
          </a:xfrm>
          <a:prstGeom prst="ellipse">
            <a:avLst/>
          </a:prstGeom>
          <a:solidFill>
            <a:srgbClr val="7C3AED">
              <a:alpha val="15000"/>
            </a:srgbClr>
          </a:solidFill>
          <a:ln/>
        </p:spPr>
      </p:sp>
      <p:sp>
        <p:nvSpPr>
          <p:cNvPr id="5" name="Text 3"/>
          <p:cNvSpPr txBox="1"/>
          <p:nvPr/>
        </p:nvSpPr>
        <p:spPr>
          <a:xfrm>
            <a:off x="548640" y="1874520"/>
            <a:ext cx="457200" cy="457200"/>
          </a:xfrm>
          <a:prstGeom prst="rect">
            <a:avLst/>
          </a:prstGeom>
          <a:noFill/>
          <a:ln/>
        </p:spPr>
        <p:txBody>
          <a:bodyPr wrap="square" rtlCol="0" anchor="ctr"/>
          <a:lstStyle/>
          <a:p>
            <a:pPr algn="ctr" indent="0" marL="0">
              <a:buNone/>
            </a:pPr>
            <a:r>
              <a:rPr lang="en-US" sz="1600" b="1" dirty="0">
                <a:solidFill>
                  <a:srgbClr val="7C3AED"/>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1234440" y="1783080"/>
            <a:ext cx="2834640" cy="1005840"/>
          </a:xfrm>
          <a:prstGeom prst="rect">
            <a:avLst/>
          </a:prstGeom>
          <a:noFill/>
          <a:ln/>
        </p:spPr>
        <p:txBody>
          <a:bodyPr wrap="square" rtlCol="0" anchor="ctr"/>
          <a:lstStyle/>
          <a:p>
            <a:pPr indent="0" marL="0">
              <a:buNone/>
            </a:pPr>
            <a:r>
              <a:rPr lang="en-US" sz="1450" b="1" dirty="0">
                <a:solidFill>
                  <a:srgbClr val="1E1B4B"/>
                </a:solidFill>
                <a:latin typeface="Cambria" pitchFamily="34" charset="0"/>
                <a:ea typeface="Cambria" pitchFamily="34" charset="-122"/>
                <a:cs typeface="Cambria" pitchFamily="34" charset="-120"/>
              </a:rPr>
              <a:t>Balanced by default</a:t>
            </a:r>
            <a:endParaRPr lang="en-US" sz="1450" dirty="0"/>
          </a:p>
        </p:txBody>
      </p:sp>
      <p:sp>
        <p:nvSpPr>
          <p:cNvPr id="7" name="Text 5"/>
          <p:cNvSpPr txBox="1"/>
          <p:nvPr/>
        </p:nvSpPr>
        <p:spPr>
          <a:xfrm>
            <a:off x="4206240" y="1783080"/>
            <a:ext cx="7406640" cy="1005840"/>
          </a:xfrm>
          <a:prstGeom prst="rect">
            <a:avLst/>
          </a:prstGeom>
          <a:noFill/>
          <a:ln/>
        </p:spPr>
        <p:txBody>
          <a:bodyPr wrap="square" rtlCol="0" anchor="ctr"/>
          <a:lstStyle/>
          <a:p>
            <a:pPr indent="0" marL="0">
              <a:lnSpc>
                <a:spcPct val="120000"/>
              </a:lnSpc>
              <a:buNone/>
            </a:pPr>
            <a:r>
              <a:rPr lang="en-US" sz="1250" dirty="0">
                <a:solidFill>
                  <a:srgbClr val="475569"/>
                </a:solidFill>
                <a:latin typeface="Calibri" pitchFamily="34" charset="0"/>
                <a:ea typeface="Calibri" pitchFamily="34" charset="-122"/>
                <a:cs typeface="Calibri" pitchFamily="34" charset="-120"/>
              </a:rPr>
              <a:t>Farthest-point clustering alone can hand one vehicle 14 stops and another 2 — every split is rebalanced against a fair-share target automatically.</a:t>
            </a:r>
            <a:endParaRPr lang="en-US" sz="1250" dirty="0"/>
          </a:p>
        </p:txBody>
      </p:sp>
      <p:sp>
        <p:nvSpPr>
          <p:cNvPr id="8" name="Shape 6"/>
          <p:cNvSpPr/>
          <p:nvPr/>
        </p:nvSpPr>
        <p:spPr>
          <a:xfrm>
            <a:off x="548640" y="2953512"/>
            <a:ext cx="457200" cy="457200"/>
          </a:xfrm>
          <a:prstGeom prst="ellipse">
            <a:avLst/>
          </a:prstGeom>
          <a:solidFill>
            <a:srgbClr val="7C3AED">
              <a:alpha val="15000"/>
            </a:srgbClr>
          </a:solidFill>
          <a:ln/>
        </p:spPr>
      </p:sp>
      <p:sp>
        <p:nvSpPr>
          <p:cNvPr id="9" name="Text 7"/>
          <p:cNvSpPr txBox="1"/>
          <p:nvPr/>
        </p:nvSpPr>
        <p:spPr>
          <a:xfrm>
            <a:off x="548640" y="2953512"/>
            <a:ext cx="457200" cy="457200"/>
          </a:xfrm>
          <a:prstGeom prst="rect">
            <a:avLst/>
          </a:prstGeom>
          <a:noFill/>
          <a:ln/>
        </p:spPr>
        <p:txBody>
          <a:bodyPr wrap="square" rtlCol="0" anchor="ctr"/>
          <a:lstStyle/>
          <a:p>
            <a:pPr algn="ctr" indent="0" marL="0">
              <a:buNone/>
            </a:pPr>
            <a:r>
              <a:rPr lang="en-US" sz="1600" b="1" dirty="0">
                <a:solidFill>
                  <a:srgbClr val="7C3AED"/>
                </a:solidFill>
                <a:latin typeface="Cambria" pitchFamily="34" charset="0"/>
                <a:ea typeface="Cambria" pitchFamily="34" charset="-122"/>
                <a:cs typeface="Cambria" pitchFamily="34" charset="-120"/>
              </a:rPr>
              <a:t>2</a:t>
            </a:r>
            <a:endParaRPr lang="en-US" sz="1600" dirty="0"/>
          </a:p>
        </p:txBody>
      </p:sp>
      <p:sp>
        <p:nvSpPr>
          <p:cNvPr id="10" name="Text 8"/>
          <p:cNvSpPr txBox="1"/>
          <p:nvPr/>
        </p:nvSpPr>
        <p:spPr>
          <a:xfrm>
            <a:off x="1234440" y="2862072"/>
            <a:ext cx="2834640" cy="1005840"/>
          </a:xfrm>
          <a:prstGeom prst="rect">
            <a:avLst/>
          </a:prstGeom>
          <a:noFill/>
          <a:ln/>
        </p:spPr>
        <p:txBody>
          <a:bodyPr wrap="square" rtlCol="0" anchor="ctr"/>
          <a:lstStyle/>
          <a:p>
            <a:pPr indent="0" marL="0">
              <a:buNone/>
            </a:pPr>
            <a:r>
              <a:rPr lang="en-US" sz="1450" b="1" dirty="0">
                <a:solidFill>
                  <a:srgbClr val="1E1B4B"/>
                </a:solidFill>
                <a:latin typeface="Cambria" pitchFamily="34" charset="0"/>
                <a:ea typeface="Cambria" pitchFamily="34" charset="-122"/>
                <a:cs typeface="Cambria" pitchFamily="34" charset="-120"/>
              </a:rPr>
              <a:t>A real, enforced cap</a:t>
            </a:r>
            <a:endParaRPr lang="en-US" sz="1450" dirty="0"/>
          </a:p>
        </p:txBody>
      </p:sp>
      <p:sp>
        <p:nvSpPr>
          <p:cNvPr id="11" name="Text 9"/>
          <p:cNvSpPr txBox="1"/>
          <p:nvPr/>
        </p:nvSpPr>
        <p:spPr>
          <a:xfrm>
            <a:off x="4206240" y="2862072"/>
            <a:ext cx="7406640" cy="1005840"/>
          </a:xfrm>
          <a:prstGeom prst="rect">
            <a:avLst/>
          </a:prstGeom>
          <a:noFill/>
          <a:ln/>
        </p:spPr>
        <p:txBody>
          <a:bodyPr wrap="square" rtlCol="0" anchor="ctr"/>
          <a:lstStyle/>
          <a:p>
            <a:pPr indent="0" marL="0">
              <a:lnSpc>
                <a:spcPct val="120000"/>
              </a:lnSpc>
              <a:buNone/>
            </a:pPr>
            <a:r>
              <a:rPr lang="en-US" sz="1250" dirty="0">
                <a:solidFill>
                  <a:srgbClr val="475569"/>
                </a:solidFill>
                <a:latin typeface="Calibri" pitchFamily="34" charset="0"/>
                <a:ea typeface="Calibri" pitchFamily="34" charset="-122"/>
                <a:cs typeface="Calibri" pitchFamily="34" charset="-120"/>
              </a:rPr>
              <a:t>“Max/vehicle” genuinely limits every vehicle's stop count, auto-raising the fleet size if the requested vehicles can't satisfy it — not a suggestion.</a:t>
            </a:r>
            <a:endParaRPr lang="en-US" sz="1250" dirty="0"/>
          </a:p>
        </p:txBody>
      </p:sp>
      <p:sp>
        <p:nvSpPr>
          <p:cNvPr id="12" name="Shape 10"/>
          <p:cNvSpPr/>
          <p:nvPr/>
        </p:nvSpPr>
        <p:spPr>
          <a:xfrm>
            <a:off x="548640" y="4032504"/>
            <a:ext cx="457200" cy="457200"/>
          </a:xfrm>
          <a:prstGeom prst="ellipse">
            <a:avLst/>
          </a:prstGeom>
          <a:solidFill>
            <a:srgbClr val="7C3AED">
              <a:alpha val="15000"/>
            </a:srgbClr>
          </a:solidFill>
          <a:ln/>
        </p:spPr>
      </p:sp>
      <p:sp>
        <p:nvSpPr>
          <p:cNvPr id="13" name="Text 11"/>
          <p:cNvSpPr txBox="1"/>
          <p:nvPr/>
        </p:nvSpPr>
        <p:spPr>
          <a:xfrm>
            <a:off x="548640" y="4032504"/>
            <a:ext cx="457200" cy="457200"/>
          </a:xfrm>
          <a:prstGeom prst="rect">
            <a:avLst/>
          </a:prstGeom>
          <a:noFill/>
          <a:ln/>
        </p:spPr>
        <p:txBody>
          <a:bodyPr wrap="square" rtlCol="0" anchor="ctr"/>
          <a:lstStyle/>
          <a:p>
            <a:pPr algn="ctr" indent="0" marL="0">
              <a:buNone/>
            </a:pPr>
            <a:r>
              <a:rPr lang="en-US" sz="1600" b="1" dirty="0">
                <a:solidFill>
                  <a:srgbClr val="7C3AED"/>
                </a:solidFill>
                <a:latin typeface="Cambria" pitchFamily="34" charset="0"/>
                <a:ea typeface="Cambria" pitchFamily="34" charset="-122"/>
                <a:cs typeface="Cambria" pitchFamily="34" charset="-120"/>
              </a:rPr>
              <a:t>3</a:t>
            </a:r>
            <a:endParaRPr lang="en-US" sz="1600" dirty="0"/>
          </a:p>
        </p:txBody>
      </p:sp>
      <p:sp>
        <p:nvSpPr>
          <p:cNvPr id="14" name="Text 12"/>
          <p:cNvSpPr txBox="1"/>
          <p:nvPr/>
        </p:nvSpPr>
        <p:spPr>
          <a:xfrm>
            <a:off x="1234440" y="3941064"/>
            <a:ext cx="2834640" cy="1005840"/>
          </a:xfrm>
          <a:prstGeom prst="rect">
            <a:avLst/>
          </a:prstGeom>
          <a:noFill/>
          <a:ln/>
        </p:spPr>
        <p:txBody>
          <a:bodyPr wrap="square" rtlCol="0" anchor="ctr"/>
          <a:lstStyle/>
          <a:p>
            <a:pPr indent="0" marL="0">
              <a:buNone/>
            </a:pPr>
            <a:r>
              <a:rPr lang="en-US" sz="1450" b="1" dirty="0">
                <a:solidFill>
                  <a:srgbClr val="1E1B4B"/>
                </a:solidFill>
                <a:latin typeface="Cambria" pitchFamily="34" charset="0"/>
                <a:ea typeface="Cambria" pitchFamily="34" charset="-122"/>
                <a:cs typeface="Cambria" pitchFamily="34" charset="-120"/>
              </a:rPr>
              <a:t>Capacity by load, not just count</a:t>
            </a:r>
            <a:endParaRPr lang="en-US" sz="1450" dirty="0"/>
          </a:p>
        </p:txBody>
      </p:sp>
      <p:sp>
        <p:nvSpPr>
          <p:cNvPr id="15" name="Text 13"/>
          <p:cNvSpPr txBox="1"/>
          <p:nvPr/>
        </p:nvSpPr>
        <p:spPr>
          <a:xfrm>
            <a:off x="4206240" y="3941064"/>
            <a:ext cx="7406640" cy="1005840"/>
          </a:xfrm>
          <a:prstGeom prst="rect">
            <a:avLst/>
          </a:prstGeom>
          <a:noFill/>
          <a:ln/>
        </p:spPr>
        <p:txBody>
          <a:bodyPr wrap="square" rtlCol="0" anchor="ctr"/>
          <a:lstStyle/>
          <a:p>
            <a:pPr indent="0" marL="0">
              <a:lnSpc>
                <a:spcPct val="120000"/>
              </a:lnSpc>
              <a:buNone/>
            </a:pPr>
            <a:r>
              <a:rPr lang="en-US" sz="1250" dirty="0">
                <a:solidFill>
                  <a:srgbClr val="475569"/>
                </a:solidFill>
                <a:latin typeface="Calibri" pitchFamily="34" charset="0"/>
                <a:ea typeface="Calibri" pitchFamily="34" charset="-122"/>
                <a:cs typeface="Calibri" pitchFamily="34" charset="-120"/>
              </a:rPr>
              <a:t>Per-stop demand weights turn the same cap into a total-weight limit, for when a crate and a pallet aren't the same “one stop.”</a:t>
            </a:r>
            <a:endParaRPr lang="en-US" sz="1250" dirty="0"/>
          </a:p>
        </p:txBody>
      </p:sp>
      <p:sp>
        <p:nvSpPr>
          <p:cNvPr id="16" name="Shape 14"/>
          <p:cNvSpPr/>
          <p:nvPr/>
        </p:nvSpPr>
        <p:spPr>
          <a:xfrm>
            <a:off x="548640" y="5111496"/>
            <a:ext cx="457200" cy="457200"/>
          </a:xfrm>
          <a:prstGeom prst="ellipse">
            <a:avLst/>
          </a:prstGeom>
          <a:solidFill>
            <a:srgbClr val="7C3AED">
              <a:alpha val="15000"/>
            </a:srgbClr>
          </a:solidFill>
          <a:ln/>
        </p:spPr>
      </p:sp>
      <p:sp>
        <p:nvSpPr>
          <p:cNvPr id="17" name="Text 15"/>
          <p:cNvSpPr txBox="1"/>
          <p:nvPr/>
        </p:nvSpPr>
        <p:spPr>
          <a:xfrm>
            <a:off x="548640" y="5111496"/>
            <a:ext cx="457200" cy="457200"/>
          </a:xfrm>
          <a:prstGeom prst="rect">
            <a:avLst/>
          </a:prstGeom>
          <a:noFill/>
          <a:ln/>
        </p:spPr>
        <p:txBody>
          <a:bodyPr wrap="square" rtlCol="0" anchor="ctr"/>
          <a:lstStyle/>
          <a:p>
            <a:pPr algn="ctr" indent="0" marL="0">
              <a:buNone/>
            </a:pPr>
            <a:r>
              <a:rPr lang="en-US" sz="1600" b="1" dirty="0">
                <a:solidFill>
                  <a:srgbClr val="7C3AED"/>
                </a:solidFill>
                <a:latin typeface="Cambria" pitchFamily="34" charset="0"/>
                <a:ea typeface="Cambria" pitchFamily="34" charset="-122"/>
                <a:cs typeface="Cambria" pitchFamily="34" charset="-120"/>
              </a:rPr>
              <a:t>4</a:t>
            </a:r>
            <a:endParaRPr lang="en-US" sz="1600" dirty="0"/>
          </a:p>
        </p:txBody>
      </p:sp>
      <p:sp>
        <p:nvSpPr>
          <p:cNvPr id="18" name="Text 16"/>
          <p:cNvSpPr txBox="1"/>
          <p:nvPr/>
        </p:nvSpPr>
        <p:spPr>
          <a:xfrm>
            <a:off x="1234440" y="5020056"/>
            <a:ext cx="2834640" cy="1005840"/>
          </a:xfrm>
          <a:prstGeom prst="rect">
            <a:avLst/>
          </a:prstGeom>
          <a:noFill/>
          <a:ln/>
        </p:spPr>
        <p:txBody>
          <a:bodyPr wrap="square" rtlCol="0" anchor="ctr"/>
          <a:lstStyle/>
          <a:p>
            <a:pPr indent="0" marL="0">
              <a:buNone/>
            </a:pPr>
            <a:r>
              <a:rPr lang="en-US" sz="1450" b="1" dirty="0">
                <a:solidFill>
                  <a:srgbClr val="1E1B4B"/>
                </a:solidFill>
                <a:latin typeface="Cambria" pitchFamily="34" charset="0"/>
                <a:ea typeface="Cambria" pitchFamily="34" charset="-122"/>
                <a:cs typeface="Cambria" pitchFamily="34" charset="-120"/>
              </a:rPr>
              <a:t>A bin-packing bug we caught ourselves</a:t>
            </a:r>
            <a:endParaRPr lang="en-US" sz="1450" dirty="0"/>
          </a:p>
        </p:txBody>
      </p:sp>
      <p:sp>
        <p:nvSpPr>
          <p:cNvPr id="19" name="Text 17"/>
          <p:cNvSpPr txBox="1"/>
          <p:nvPr/>
        </p:nvSpPr>
        <p:spPr>
          <a:xfrm>
            <a:off x="4206240" y="5020056"/>
            <a:ext cx="7406640" cy="1005840"/>
          </a:xfrm>
          <a:prstGeom prst="rect">
            <a:avLst/>
          </a:prstGeom>
          <a:noFill/>
          <a:ln/>
        </p:spPr>
        <p:txBody>
          <a:bodyPr wrap="square" rtlCol="0" anchor="ctr"/>
          <a:lstStyle/>
          <a:p>
            <a:pPr indent="0" marL="0">
              <a:lnSpc>
                <a:spcPct val="120000"/>
              </a:lnSpc>
              <a:buNone/>
            </a:pPr>
            <a:r>
              <a:rPr lang="en-US" sz="1250" dirty="0">
                <a:solidFill>
                  <a:srgbClr val="475569"/>
                </a:solidFill>
                <a:latin typeface="Calibri" pitchFamily="34" charset="0"/>
                <a:ea typeface="Calibri" pitchFamily="34" charset="-122"/>
                <a:cs typeface="Calibri" pitchFamily="34" charset="-120"/>
              </a:rPr>
              <a:t>ceil(total demand / capacity) is only a lower bound with uneven weights — our own test suite caught the undercount; fixed with a retry loop that's now covered by regression tests.</a:t>
            </a:r>
            <a:endParaRPr lang="en-US" sz="1250" dirty="0"/>
          </a:p>
        </p:txBody>
      </p:sp>
      <p:sp>
        <p:nvSpPr>
          <p:cNvPr id="20" name="Text 18"/>
          <p:cNvSpPr txBox="1"/>
          <p:nvPr/>
        </p:nvSpPr>
        <p:spPr>
          <a:xfrm>
            <a:off x="54864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Quantum-Inspired Traffic Router  ·  SIH26137</a:t>
            </a:r>
            <a:endParaRPr lang="en-US" sz="900" dirty="0"/>
          </a:p>
        </p:txBody>
      </p:sp>
      <p:sp>
        <p:nvSpPr>
          <p:cNvPr id="21" name="Text 19"/>
          <p:cNvSpPr txBox="1"/>
          <p:nvPr/>
        </p:nvSpPr>
        <p:spPr>
          <a:xfrm>
            <a:off x="11521440" y="6473952"/>
            <a:ext cx="365760"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65760"/>
          </a:xfrm>
          <a:prstGeom prst="rect">
            <a:avLst/>
          </a:prstGeom>
          <a:noFill/>
          <a:ln/>
        </p:spPr>
        <p:txBody>
          <a:bodyPr wrap="square" rtlCol="0" anchor="ctr"/>
          <a:lstStyle/>
          <a:p>
            <a:pPr indent="0" marL="0">
              <a:buNone/>
            </a:pPr>
            <a:r>
              <a:rPr lang="en-US" sz="1300" b="1" spc="200" kern="0" dirty="0">
                <a:solidFill>
                  <a:srgbClr val="7C3AED"/>
                </a:solidFill>
                <a:latin typeface="Calibri" pitchFamily="34" charset="0"/>
                <a:ea typeface="Calibri" pitchFamily="34" charset="-122"/>
                <a:cs typeface="Calibri" pitchFamily="34" charset="-120"/>
              </a:rPr>
              <a:t>A PRODUCT, NOT JUST AN ALGORITHM</a:t>
            </a:r>
            <a:endParaRPr lang="en-US" sz="1300" dirty="0"/>
          </a:p>
        </p:txBody>
      </p:sp>
      <p:sp>
        <p:nvSpPr>
          <p:cNvPr id="3" name="Text 1"/>
          <p:cNvSpPr txBox="1"/>
          <p:nvPr/>
        </p:nvSpPr>
        <p:spPr>
          <a:xfrm>
            <a:off x="548640" y="640080"/>
            <a:ext cx="10789920" cy="822960"/>
          </a:xfrm>
          <a:prstGeom prst="rect">
            <a:avLst/>
          </a:prstGeom>
          <a:noFill/>
          <a:ln/>
        </p:spPr>
        <p:txBody>
          <a:bodyPr wrap="square" rtlCol="0" anchor="ctr"/>
          <a:lstStyle/>
          <a:p>
            <a:pPr indent="0" marL="0">
              <a:buNone/>
            </a:pPr>
            <a:r>
              <a:rPr lang="en-US" sz="3200" b="1" dirty="0">
                <a:solidFill>
                  <a:srgbClr val="1E1B4B"/>
                </a:solidFill>
                <a:latin typeface="Cambria" pitchFamily="34" charset="0"/>
                <a:ea typeface="Cambria" pitchFamily="34" charset="-122"/>
                <a:cs typeface="Cambria" pitchFamily="34" charset="-120"/>
              </a:rPr>
              <a:t>Everything a judge can click, today</a:t>
            </a:r>
            <a:endParaRPr lang="en-US" sz="3200" dirty="0"/>
          </a:p>
        </p:txBody>
      </p:sp>
      <p:sp>
        <p:nvSpPr>
          <p:cNvPr id="4" name="Shape 2"/>
          <p:cNvSpPr/>
          <p:nvPr/>
        </p:nvSpPr>
        <p:spPr>
          <a:xfrm>
            <a:off x="548640" y="1828800"/>
            <a:ext cx="2724912" cy="1965960"/>
          </a:xfrm>
          <a:prstGeom prst="roundRect">
            <a:avLst>
              <a:gd name="adj" fmla="val 4651"/>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5" name="Shape 3"/>
          <p:cNvSpPr/>
          <p:nvPr/>
        </p:nvSpPr>
        <p:spPr>
          <a:xfrm>
            <a:off x="749808" y="2029968"/>
            <a:ext cx="384048" cy="384048"/>
          </a:xfrm>
          <a:prstGeom prst="ellipse">
            <a:avLst/>
          </a:prstGeom>
          <a:solidFill>
            <a:srgbClr val="7C3AED"/>
          </a:solidFill>
          <a:ln/>
        </p:spPr>
      </p:sp>
      <p:sp>
        <p:nvSpPr>
          <p:cNvPr id="6" name="Text 4"/>
          <p:cNvSpPr txBox="1"/>
          <p:nvPr/>
        </p:nvSpPr>
        <p:spPr>
          <a:xfrm>
            <a:off x="731520" y="2542032"/>
            <a:ext cx="2359152" cy="457200"/>
          </a:xfrm>
          <a:prstGeom prst="rect">
            <a:avLst/>
          </a:prstGeom>
          <a:noFill/>
          <a:ln/>
        </p:spPr>
        <p:txBody>
          <a:bodyPr wrap="square" rtlCol="0" anchor="ctr"/>
          <a:lstStyle/>
          <a:p>
            <a:pPr indent="0" marL="0">
              <a:buNone/>
            </a:pPr>
            <a:r>
              <a:rPr lang="en-US" sz="1350" b="1" dirty="0">
                <a:solidFill>
                  <a:srgbClr val="1E1B4B"/>
                </a:solidFill>
                <a:latin typeface="Cambria" pitchFamily="34" charset="0"/>
                <a:ea typeface="Cambria" pitchFamily="34" charset="-122"/>
                <a:cs typeface="Cambria" pitchFamily="34" charset="-120"/>
              </a:rPr>
              <a:t>Bulk import</a:t>
            </a:r>
            <a:endParaRPr lang="en-US" sz="1350" dirty="0"/>
          </a:p>
        </p:txBody>
      </p:sp>
      <p:sp>
        <p:nvSpPr>
          <p:cNvPr id="7" name="Text 5"/>
          <p:cNvSpPr txBox="1"/>
          <p:nvPr/>
        </p:nvSpPr>
        <p:spPr>
          <a:xfrm>
            <a:off x="731520" y="2971800"/>
            <a:ext cx="2359152" cy="777240"/>
          </a:xfrm>
          <a:prstGeom prst="rect">
            <a:avLst/>
          </a:prstGeom>
          <a:noFill/>
          <a:ln/>
        </p:spPr>
        <p:txBody>
          <a:bodyPr wrap="square" rtlCol="0" anchor="ctr"/>
          <a:lstStyle/>
          <a:p>
            <a:pPr indent="0" marL="0">
              <a:lnSpc>
                <a:spcPct val="120000"/>
              </a:lnSpc>
              <a:buNone/>
            </a:pPr>
            <a:r>
              <a:rPr lang="en-US" sz="1050" dirty="0">
                <a:solidFill>
                  <a:srgbClr val="475569"/>
                </a:solidFill>
                <a:latin typeface="Calibri" pitchFamily="34" charset="0"/>
                <a:ea typeface="Calibri" pitchFamily="34" charset="-122"/>
                <a:cs typeface="Calibri" pitchFamily="34" charset="-120"/>
              </a:rPr>
              <a:t>Paste or upload a CSV of stops — geocoded automatically.</a:t>
            </a:r>
            <a:endParaRPr lang="en-US" sz="1050" dirty="0"/>
          </a:p>
        </p:txBody>
      </p:sp>
      <p:sp>
        <p:nvSpPr>
          <p:cNvPr id="8" name="Shape 6"/>
          <p:cNvSpPr/>
          <p:nvPr/>
        </p:nvSpPr>
        <p:spPr>
          <a:xfrm>
            <a:off x="3328416" y="1828800"/>
            <a:ext cx="2724912" cy="1965960"/>
          </a:xfrm>
          <a:prstGeom prst="roundRect">
            <a:avLst>
              <a:gd name="adj" fmla="val 4651"/>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9" name="Shape 7"/>
          <p:cNvSpPr/>
          <p:nvPr/>
        </p:nvSpPr>
        <p:spPr>
          <a:xfrm>
            <a:off x="3529584" y="2029968"/>
            <a:ext cx="384048" cy="384048"/>
          </a:xfrm>
          <a:prstGeom prst="ellipse">
            <a:avLst/>
          </a:prstGeom>
          <a:solidFill>
            <a:srgbClr val="22D3EE"/>
          </a:solidFill>
          <a:ln/>
        </p:spPr>
      </p:sp>
      <p:sp>
        <p:nvSpPr>
          <p:cNvPr id="10" name="Text 8"/>
          <p:cNvSpPr txBox="1"/>
          <p:nvPr/>
        </p:nvSpPr>
        <p:spPr>
          <a:xfrm>
            <a:off x="3511296" y="2542032"/>
            <a:ext cx="2359152" cy="457200"/>
          </a:xfrm>
          <a:prstGeom prst="rect">
            <a:avLst/>
          </a:prstGeom>
          <a:noFill/>
          <a:ln/>
        </p:spPr>
        <p:txBody>
          <a:bodyPr wrap="square" rtlCol="0" anchor="ctr"/>
          <a:lstStyle/>
          <a:p>
            <a:pPr indent="0" marL="0">
              <a:buNone/>
            </a:pPr>
            <a:r>
              <a:rPr lang="en-US" sz="1350" b="1" dirty="0">
                <a:solidFill>
                  <a:srgbClr val="1E1B4B"/>
                </a:solidFill>
                <a:latin typeface="Cambria" pitchFamily="34" charset="0"/>
                <a:ea typeface="Cambria" pitchFamily="34" charset="-122"/>
                <a:cs typeface="Cambria" pitchFamily="34" charset="-120"/>
              </a:rPr>
              <a:t>Shareable link</a:t>
            </a:r>
            <a:endParaRPr lang="en-US" sz="1350" dirty="0"/>
          </a:p>
        </p:txBody>
      </p:sp>
      <p:sp>
        <p:nvSpPr>
          <p:cNvPr id="11" name="Text 9"/>
          <p:cNvSpPr txBox="1"/>
          <p:nvPr/>
        </p:nvSpPr>
        <p:spPr>
          <a:xfrm>
            <a:off x="3511296" y="2971800"/>
            <a:ext cx="2359152" cy="777240"/>
          </a:xfrm>
          <a:prstGeom prst="rect">
            <a:avLst/>
          </a:prstGeom>
          <a:noFill/>
          <a:ln/>
        </p:spPr>
        <p:txBody>
          <a:bodyPr wrap="square" rtlCol="0" anchor="ctr"/>
          <a:lstStyle/>
          <a:p>
            <a:pPr indent="0" marL="0">
              <a:lnSpc>
                <a:spcPct val="120000"/>
              </a:lnSpc>
              <a:buNone/>
            </a:pPr>
            <a:r>
              <a:rPr lang="en-US" sz="1050" dirty="0">
                <a:solidFill>
                  <a:srgbClr val="475569"/>
                </a:solidFill>
                <a:latin typeface="Calibri" pitchFamily="34" charset="0"/>
                <a:ea typeface="Calibri" pitchFamily="34" charset="-122"/>
                <a:cs typeface="Calibri" pitchFamily="34" charset="-120"/>
              </a:rPr>
              <a:t>One URL encodes the whole route — city, stops, method, rules.</a:t>
            </a:r>
            <a:endParaRPr lang="en-US" sz="1050" dirty="0"/>
          </a:p>
        </p:txBody>
      </p:sp>
      <p:sp>
        <p:nvSpPr>
          <p:cNvPr id="12" name="Shape 10"/>
          <p:cNvSpPr/>
          <p:nvPr/>
        </p:nvSpPr>
        <p:spPr>
          <a:xfrm>
            <a:off x="6108192" y="1828800"/>
            <a:ext cx="2724912" cy="1965960"/>
          </a:xfrm>
          <a:prstGeom prst="roundRect">
            <a:avLst>
              <a:gd name="adj" fmla="val 4651"/>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13" name="Shape 11"/>
          <p:cNvSpPr/>
          <p:nvPr/>
        </p:nvSpPr>
        <p:spPr>
          <a:xfrm>
            <a:off x="6309360" y="2029968"/>
            <a:ext cx="384048" cy="384048"/>
          </a:xfrm>
          <a:prstGeom prst="ellipse">
            <a:avLst/>
          </a:prstGeom>
          <a:solidFill>
            <a:srgbClr val="7C3AED"/>
          </a:solidFill>
          <a:ln/>
        </p:spPr>
      </p:sp>
      <p:sp>
        <p:nvSpPr>
          <p:cNvPr id="14" name="Text 12"/>
          <p:cNvSpPr txBox="1"/>
          <p:nvPr/>
        </p:nvSpPr>
        <p:spPr>
          <a:xfrm>
            <a:off x="6291072" y="2542032"/>
            <a:ext cx="2359152" cy="457200"/>
          </a:xfrm>
          <a:prstGeom prst="rect">
            <a:avLst/>
          </a:prstGeom>
          <a:noFill/>
          <a:ln/>
        </p:spPr>
        <p:txBody>
          <a:bodyPr wrap="square" rtlCol="0" anchor="ctr"/>
          <a:lstStyle/>
          <a:p>
            <a:pPr indent="0" marL="0">
              <a:buNone/>
            </a:pPr>
            <a:r>
              <a:rPr lang="en-US" sz="1350" b="1" dirty="0">
                <a:solidFill>
                  <a:srgbClr val="1E1B4B"/>
                </a:solidFill>
                <a:latin typeface="Cambria" pitchFamily="34" charset="0"/>
                <a:ea typeface="Cambria" pitchFamily="34" charset="-122"/>
                <a:cs typeface="Cambria" pitchFamily="34" charset="-120"/>
              </a:rPr>
              <a:t>GPX + PDF export</a:t>
            </a:r>
            <a:endParaRPr lang="en-US" sz="1350" dirty="0"/>
          </a:p>
        </p:txBody>
      </p:sp>
      <p:sp>
        <p:nvSpPr>
          <p:cNvPr id="15" name="Text 13"/>
          <p:cNvSpPr txBox="1"/>
          <p:nvPr/>
        </p:nvSpPr>
        <p:spPr>
          <a:xfrm>
            <a:off x="6291072" y="2971800"/>
            <a:ext cx="2359152" cy="777240"/>
          </a:xfrm>
          <a:prstGeom prst="rect">
            <a:avLst/>
          </a:prstGeom>
          <a:noFill/>
          <a:ln/>
        </p:spPr>
        <p:txBody>
          <a:bodyPr wrap="square" rtlCol="0" anchor="ctr"/>
          <a:lstStyle/>
          <a:p>
            <a:pPr indent="0" marL="0">
              <a:lnSpc>
                <a:spcPct val="120000"/>
              </a:lnSpc>
              <a:buNone/>
            </a:pPr>
            <a:r>
              <a:rPr lang="en-US" sz="1050" dirty="0">
                <a:solidFill>
                  <a:srgbClr val="475569"/>
                </a:solidFill>
                <a:latin typeface="Calibri" pitchFamily="34" charset="0"/>
                <a:ea typeface="Calibri" pitchFamily="34" charset="-122"/>
                <a:cs typeface="Calibri" pitchFamily="34" charset="-120"/>
              </a:rPr>
              <a:t>Take the solved route into any GPS device, or print it.</a:t>
            </a:r>
            <a:endParaRPr lang="en-US" sz="1050" dirty="0"/>
          </a:p>
        </p:txBody>
      </p:sp>
      <p:sp>
        <p:nvSpPr>
          <p:cNvPr id="16" name="Shape 14"/>
          <p:cNvSpPr/>
          <p:nvPr/>
        </p:nvSpPr>
        <p:spPr>
          <a:xfrm>
            <a:off x="8887968" y="1828800"/>
            <a:ext cx="2724912" cy="1965960"/>
          </a:xfrm>
          <a:prstGeom prst="roundRect">
            <a:avLst>
              <a:gd name="adj" fmla="val 4651"/>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17" name="Shape 15"/>
          <p:cNvSpPr/>
          <p:nvPr/>
        </p:nvSpPr>
        <p:spPr>
          <a:xfrm>
            <a:off x="9089136" y="2029968"/>
            <a:ext cx="384048" cy="384048"/>
          </a:xfrm>
          <a:prstGeom prst="ellipse">
            <a:avLst/>
          </a:prstGeom>
          <a:solidFill>
            <a:srgbClr val="22D3EE"/>
          </a:solidFill>
          <a:ln/>
        </p:spPr>
      </p:sp>
      <p:sp>
        <p:nvSpPr>
          <p:cNvPr id="18" name="Text 16"/>
          <p:cNvSpPr txBox="1"/>
          <p:nvPr/>
        </p:nvSpPr>
        <p:spPr>
          <a:xfrm>
            <a:off x="9070848" y="2542032"/>
            <a:ext cx="2359152" cy="457200"/>
          </a:xfrm>
          <a:prstGeom prst="rect">
            <a:avLst/>
          </a:prstGeom>
          <a:noFill/>
          <a:ln/>
        </p:spPr>
        <p:txBody>
          <a:bodyPr wrap="square" rtlCol="0" anchor="ctr"/>
          <a:lstStyle/>
          <a:p>
            <a:pPr indent="0" marL="0">
              <a:buNone/>
            </a:pPr>
            <a:r>
              <a:rPr lang="en-US" sz="1350" b="1" dirty="0">
                <a:solidFill>
                  <a:srgbClr val="1E1B4B"/>
                </a:solidFill>
                <a:latin typeface="Cambria" pitchFamily="34" charset="0"/>
                <a:ea typeface="Cambria" pitchFamily="34" charset="-122"/>
                <a:cs typeface="Cambria" pitchFamily="34" charset="-120"/>
              </a:rPr>
              <a:t>Dark / light theme</a:t>
            </a:r>
            <a:endParaRPr lang="en-US" sz="1350" dirty="0"/>
          </a:p>
        </p:txBody>
      </p:sp>
      <p:sp>
        <p:nvSpPr>
          <p:cNvPr id="19" name="Text 17"/>
          <p:cNvSpPr txBox="1"/>
          <p:nvPr/>
        </p:nvSpPr>
        <p:spPr>
          <a:xfrm>
            <a:off x="9070848" y="2971800"/>
            <a:ext cx="2359152" cy="777240"/>
          </a:xfrm>
          <a:prstGeom prst="rect">
            <a:avLst/>
          </a:prstGeom>
          <a:noFill/>
          <a:ln/>
        </p:spPr>
        <p:txBody>
          <a:bodyPr wrap="square" rtlCol="0" anchor="ctr"/>
          <a:lstStyle/>
          <a:p>
            <a:pPr indent="0" marL="0">
              <a:lnSpc>
                <a:spcPct val="120000"/>
              </a:lnSpc>
              <a:buNone/>
            </a:pPr>
            <a:r>
              <a:rPr lang="en-US" sz="1050" dirty="0">
                <a:solidFill>
                  <a:srgbClr val="475569"/>
                </a:solidFill>
                <a:latin typeface="Calibri" pitchFamily="34" charset="0"/>
                <a:ea typeface="Calibri" pitchFamily="34" charset="-122"/>
                <a:cs typeface="Calibri" pitchFamily="34" charset="-120"/>
              </a:rPr>
              <a:t>A real design system, not default browser styling.</a:t>
            </a:r>
            <a:endParaRPr lang="en-US" sz="1050" dirty="0"/>
          </a:p>
        </p:txBody>
      </p:sp>
      <p:sp>
        <p:nvSpPr>
          <p:cNvPr id="20" name="Shape 18"/>
          <p:cNvSpPr/>
          <p:nvPr/>
        </p:nvSpPr>
        <p:spPr>
          <a:xfrm>
            <a:off x="548640" y="3931920"/>
            <a:ext cx="2724912" cy="1965960"/>
          </a:xfrm>
          <a:prstGeom prst="roundRect">
            <a:avLst>
              <a:gd name="adj" fmla="val 4651"/>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21" name="Shape 19"/>
          <p:cNvSpPr/>
          <p:nvPr/>
        </p:nvSpPr>
        <p:spPr>
          <a:xfrm>
            <a:off x="749808" y="4133088"/>
            <a:ext cx="384048" cy="384048"/>
          </a:xfrm>
          <a:prstGeom prst="ellipse">
            <a:avLst/>
          </a:prstGeom>
          <a:solidFill>
            <a:srgbClr val="7C3AED"/>
          </a:solidFill>
          <a:ln/>
        </p:spPr>
      </p:sp>
      <p:sp>
        <p:nvSpPr>
          <p:cNvPr id="22" name="Text 20"/>
          <p:cNvSpPr txBox="1"/>
          <p:nvPr/>
        </p:nvSpPr>
        <p:spPr>
          <a:xfrm>
            <a:off x="731520" y="4645152"/>
            <a:ext cx="2359152" cy="457200"/>
          </a:xfrm>
          <a:prstGeom prst="rect">
            <a:avLst/>
          </a:prstGeom>
          <a:noFill/>
          <a:ln/>
        </p:spPr>
        <p:txBody>
          <a:bodyPr wrap="square" rtlCol="0" anchor="ctr"/>
          <a:lstStyle/>
          <a:p>
            <a:pPr indent="0" marL="0">
              <a:buNone/>
            </a:pPr>
            <a:r>
              <a:rPr lang="en-US" sz="1350" b="1" dirty="0">
                <a:solidFill>
                  <a:srgbClr val="1E1B4B"/>
                </a:solidFill>
                <a:latin typeface="Cambria" pitchFamily="34" charset="0"/>
                <a:ea typeface="Cambria" pitchFamily="34" charset="-122"/>
                <a:cs typeface="Cambria" pitchFamily="34" charset="-120"/>
              </a:rPr>
              <a:t>Precedence rules</a:t>
            </a:r>
            <a:endParaRPr lang="en-US" sz="1350" dirty="0"/>
          </a:p>
        </p:txBody>
      </p:sp>
      <p:sp>
        <p:nvSpPr>
          <p:cNvPr id="23" name="Text 21"/>
          <p:cNvSpPr txBox="1"/>
          <p:nvPr/>
        </p:nvSpPr>
        <p:spPr>
          <a:xfrm>
            <a:off x="731520" y="5074920"/>
            <a:ext cx="2359152" cy="777240"/>
          </a:xfrm>
          <a:prstGeom prst="rect">
            <a:avLst/>
          </a:prstGeom>
          <a:noFill/>
          <a:ln/>
        </p:spPr>
        <p:txBody>
          <a:bodyPr wrap="square" rtlCol="0" anchor="ctr"/>
          <a:lstStyle/>
          <a:p>
            <a:pPr indent="0" marL="0">
              <a:lnSpc>
                <a:spcPct val="120000"/>
              </a:lnSpc>
              <a:buNone/>
            </a:pPr>
            <a:r>
              <a:rPr lang="en-US" sz="1050" dirty="0">
                <a:solidFill>
                  <a:srgbClr val="475569"/>
                </a:solidFill>
                <a:latin typeface="Calibri" pitchFamily="34" charset="0"/>
                <a:ea typeface="Calibri" pitchFamily="34" charset="-122"/>
                <a:cs typeface="Calibri" pitchFamily="34" charset="-120"/>
              </a:rPr>
              <a:t>“Visit A before B” — baked into the same QUBO, not bolted on.</a:t>
            </a:r>
            <a:endParaRPr lang="en-US" sz="1050" dirty="0"/>
          </a:p>
        </p:txBody>
      </p:sp>
      <p:sp>
        <p:nvSpPr>
          <p:cNvPr id="24" name="Shape 22"/>
          <p:cNvSpPr/>
          <p:nvPr/>
        </p:nvSpPr>
        <p:spPr>
          <a:xfrm>
            <a:off x="3328416" y="3931920"/>
            <a:ext cx="2724912" cy="1965960"/>
          </a:xfrm>
          <a:prstGeom prst="roundRect">
            <a:avLst>
              <a:gd name="adj" fmla="val 4651"/>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25" name="Shape 23"/>
          <p:cNvSpPr/>
          <p:nvPr/>
        </p:nvSpPr>
        <p:spPr>
          <a:xfrm>
            <a:off x="3529584" y="4133088"/>
            <a:ext cx="384048" cy="384048"/>
          </a:xfrm>
          <a:prstGeom prst="ellipse">
            <a:avLst/>
          </a:prstGeom>
          <a:solidFill>
            <a:srgbClr val="22D3EE"/>
          </a:solidFill>
          <a:ln/>
        </p:spPr>
      </p:sp>
      <p:sp>
        <p:nvSpPr>
          <p:cNvPr id="26" name="Text 24"/>
          <p:cNvSpPr txBox="1"/>
          <p:nvPr/>
        </p:nvSpPr>
        <p:spPr>
          <a:xfrm>
            <a:off x="3511296" y="4645152"/>
            <a:ext cx="2359152" cy="457200"/>
          </a:xfrm>
          <a:prstGeom prst="rect">
            <a:avLst/>
          </a:prstGeom>
          <a:noFill/>
          <a:ln/>
        </p:spPr>
        <p:txBody>
          <a:bodyPr wrap="square" rtlCol="0" anchor="ctr"/>
          <a:lstStyle/>
          <a:p>
            <a:pPr indent="0" marL="0">
              <a:buNone/>
            </a:pPr>
            <a:r>
              <a:rPr lang="en-US" sz="1350" b="1" dirty="0">
                <a:solidFill>
                  <a:srgbClr val="1E1B4B"/>
                </a:solidFill>
                <a:latin typeface="Cambria" pitchFamily="34" charset="0"/>
                <a:ea typeface="Cambria" pitchFamily="34" charset="-122"/>
                <a:cs typeface="Cambria" pitchFamily="34" charset="-120"/>
              </a:rPr>
              <a:t>Live analytics</a:t>
            </a:r>
            <a:endParaRPr lang="en-US" sz="1350" dirty="0"/>
          </a:p>
        </p:txBody>
      </p:sp>
      <p:sp>
        <p:nvSpPr>
          <p:cNvPr id="27" name="Text 25"/>
          <p:cNvSpPr txBox="1"/>
          <p:nvPr/>
        </p:nvSpPr>
        <p:spPr>
          <a:xfrm>
            <a:off x="3511296" y="5074920"/>
            <a:ext cx="2359152" cy="777240"/>
          </a:xfrm>
          <a:prstGeom prst="rect">
            <a:avLst/>
          </a:prstGeom>
          <a:noFill/>
          <a:ln/>
        </p:spPr>
        <p:txBody>
          <a:bodyPr wrap="square" rtlCol="0" anchor="ctr"/>
          <a:lstStyle/>
          <a:p>
            <a:pPr indent="0" marL="0">
              <a:lnSpc>
                <a:spcPct val="120000"/>
              </a:lnSpc>
              <a:buNone/>
            </a:pPr>
            <a:r>
              <a:rPr lang="en-US" sz="1050" dirty="0">
                <a:solidFill>
                  <a:srgbClr val="475569"/>
                </a:solidFill>
                <a:latin typeface="Calibri" pitchFamily="34" charset="0"/>
                <a:ea typeface="Calibri" pitchFamily="34" charset="-122"/>
                <a:cs typeface="Calibri" pitchFamily="34" charset="-120"/>
              </a:rPr>
              <a:t>GET /api/analytics — a real usage counter, honestly scoped.</a:t>
            </a:r>
            <a:endParaRPr lang="en-US" sz="1050" dirty="0"/>
          </a:p>
        </p:txBody>
      </p:sp>
      <p:sp>
        <p:nvSpPr>
          <p:cNvPr id="28" name="Shape 26"/>
          <p:cNvSpPr/>
          <p:nvPr/>
        </p:nvSpPr>
        <p:spPr>
          <a:xfrm>
            <a:off x="6108192" y="3931920"/>
            <a:ext cx="2724912" cy="1965960"/>
          </a:xfrm>
          <a:prstGeom prst="roundRect">
            <a:avLst>
              <a:gd name="adj" fmla="val 4651"/>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29" name="Shape 27"/>
          <p:cNvSpPr/>
          <p:nvPr/>
        </p:nvSpPr>
        <p:spPr>
          <a:xfrm>
            <a:off x="6309360" y="4133088"/>
            <a:ext cx="384048" cy="384048"/>
          </a:xfrm>
          <a:prstGeom prst="ellipse">
            <a:avLst/>
          </a:prstGeom>
          <a:solidFill>
            <a:srgbClr val="7C3AED"/>
          </a:solidFill>
          <a:ln/>
        </p:spPr>
      </p:sp>
      <p:sp>
        <p:nvSpPr>
          <p:cNvPr id="30" name="Text 28"/>
          <p:cNvSpPr txBox="1"/>
          <p:nvPr/>
        </p:nvSpPr>
        <p:spPr>
          <a:xfrm>
            <a:off x="6291072" y="4645152"/>
            <a:ext cx="2359152" cy="457200"/>
          </a:xfrm>
          <a:prstGeom prst="rect">
            <a:avLst/>
          </a:prstGeom>
          <a:noFill/>
          <a:ln/>
        </p:spPr>
        <p:txBody>
          <a:bodyPr wrap="square" rtlCol="0" anchor="ctr"/>
          <a:lstStyle/>
          <a:p>
            <a:pPr indent="0" marL="0">
              <a:buNone/>
            </a:pPr>
            <a:r>
              <a:rPr lang="en-US" sz="1350" b="1" dirty="0">
                <a:solidFill>
                  <a:srgbClr val="1E1B4B"/>
                </a:solidFill>
                <a:latin typeface="Cambria" pitchFamily="34" charset="0"/>
                <a:ea typeface="Cambria" pitchFamily="34" charset="-122"/>
                <a:cs typeface="Cambria" pitchFamily="34" charset="-120"/>
              </a:rPr>
              <a:t>OpenAPI spec</a:t>
            </a:r>
            <a:endParaRPr lang="en-US" sz="1350" dirty="0"/>
          </a:p>
        </p:txBody>
      </p:sp>
      <p:sp>
        <p:nvSpPr>
          <p:cNvPr id="31" name="Text 29"/>
          <p:cNvSpPr txBox="1"/>
          <p:nvPr/>
        </p:nvSpPr>
        <p:spPr>
          <a:xfrm>
            <a:off x="6291072" y="5074920"/>
            <a:ext cx="2359152" cy="777240"/>
          </a:xfrm>
          <a:prstGeom prst="rect">
            <a:avLst/>
          </a:prstGeom>
          <a:noFill/>
          <a:ln/>
        </p:spPr>
        <p:txBody>
          <a:bodyPr wrap="square" rtlCol="0" anchor="ctr"/>
          <a:lstStyle/>
          <a:p>
            <a:pPr indent="0" marL="0">
              <a:lnSpc>
                <a:spcPct val="120000"/>
              </a:lnSpc>
              <a:buNone/>
            </a:pPr>
            <a:r>
              <a:rPr lang="en-US" sz="1050" dirty="0">
                <a:solidFill>
                  <a:srgbClr val="475569"/>
                </a:solidFill>
                <a:latin typeface="Calibri" pitchFamily="34" charset="0"/>
                <a:ea typeface="Calibri" pitchFamily="34" charset="-122"/>
                <a:cs typeface="Calibri" pitchFamily="34" charset="-120"/>
              </a:rPr>
              <a:t>Every field tested against the real Flask responses.</a:t>
            </a:r>
            <a:endParaRPr lang="en-US" sz="1050" dirty="0"/>
          </a:p>
        </p:txBody>
      </p:sp>
      <p:sp>
        <p:nvSpPr>
          <p:cNvPr id="32" name="Shape 30"/>
          <p:cNvSpPr/>
          <p:nvPr/>
        </p:nvSpPr>
        <p:spPr>
          <a:xfrm>
            <a:off x="8887968" y="3931920"/>
            <a:ext cx="2724912" cy="1965960"/>
          </a:xfrm>
          <a:prstGeom prst="roundRect">
            <a:avLst>
              <a:gd name="adj" fmla="val 4651"/>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33" name="Shape 31"/>
          <p:cNvSpPr/>
          <p:nvPr/>
        </p:nvSpPr>
        <p:spPr>
          <a:xfrm>
            <a:off x="9089136" y="4133088"/>
            <a:ext cx="384048" cy="384048"/>
          </a:xfrm>
          <a:prstGeom prst="ellipse">
            <a:avLst/>
          </a:prstGeom>
          <a:solidFill>
            <a:srgbClr val="22D3EE"/>
          </a:solidFill>
          <a:ln/>
        </p:spPr>
      </p:sp>
      <p:sp>
        <p:nvSpPr>
          <p:cNvPr id="34" name="Text 32"/>
          <p:cNvSpPr txBox="1"/>
          <p:nvPr/>
        </p:nvSpPr>
        <p:spPr>
          <a:xfrm>
            <a:off x="9070848" y="4645152"/>
            <a:ext cx="2359152" cy="457200"/>
          </a:xfrm>
          <a:prstGeom prst="rect">
            <a:avLst/>
          </a:prstGeom>
          <a:noFill/>
          <a:ln/>
        </p:spPr>
        <p:txBody>
          <a:bodyPr wrap="square" rtlCol="0" anchor="ctr"/>
          <a:lstStyle/>
          <a:p>
            <a:pPr indent="0" marL="0">
              <a:buNone/>
            </a:pPr>
            <a:r>
              <a:rPr lang="en-US" sz="1350" b="1" dirty="0">
                <a:solidFill>
                  <a:srgbClr val="1E1B4B"/>
                </a:solidFill>
                <a:latin typeface="Cambria" pitchFamily="34" charset="0"/>
                <a:ea typeface="Cambria" pitchFamily="34" charset="-122"/>
                <a:cs typeface="Cambria" pitchFamily="34" charset="-120"/>
              </a:rPr>
              <a:t>One-command deploy</a:t>
            </a:r>
            <a:endParaRPr lang="en-US" sz="1350" dirty="0"/>
          </a:p>
        </p:txBody>
      </p:sp>
      <p:sp>
        <p:nvSpPr>
          <p:cNvPr id="35" name="Text 33"/>
          <p:cNvSpPr txBox="1"/>
          <p:nvPr/>
        </p:nvSpPr>
        <p:spPr>
          <a:xfrm>
            <a:off x="9070848" y="5074920"/>
            <a:ext cx="2359152" cy="777240"/>
          </a:xfrm>
          <a:prstGeom prst="rect">
            <a:avLst/>
          </a:prstGeom>
          <a:noFill/>
          <a:ln/>
        </p:spPr>
        <p:txBody>
          <a:bodyPr wrap="square" rtlCol="0" anchor="ctr"/>
          <a:lstStyle/>
          <a:p>
            <a:pPr indent="0" marL="0">
              <a:lnSpc>
                <a:spcPct val="120000"/>
              </a:lnSpc>
              <a:buNone/>
            </a:pPr>
            <a:r>
              <a:rPr lang="en-US" sz="1050" dirty="0">
                <a:solidFill>
                  <a:srgbClr val="475569"/>
                </a:solidFill>
                <a:latin typeface="Calibri" pitchFamily="34" charset="0"/>
                <a:ea typeface="Calibri" pitchFamily="34" charset="-122"/>
                <a:cs typeface="Calibri" pitchFamily="34" charset="-120"/>
              </a:rPr>
              <a:t>Dockerfile + Render/GitHub Pages guides included.</a:t>
            </a:r>
            <a:endParaRPr lang="en-US" sz="1050" dirty="0"/>
          </a:p>
        </p:txBody>
      </p:sp>
      <p:sp>
        <p:nvSpPr>
          <p:cNvPr id="36" name="Text 34"/>
          <p:cNvSpPr txBox="1"/>
          <p:nvPr/>
        </p:nvSpPr>
        <p:spPr>
          <a:xfrm>
            <a:off x="54864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Quantum-Inspired Traffic Router  ·  SIH26137</a:t>
            </a:r>
            <a:endParaRPr lang="en-US" sz="900" dirty="0"/>
          </a:p>
        </p:txBody>
      </p:sp>
      <p:sp>
        <p:nvSpPr>
          <p:cNvPr id="37" name="Text 35"/>
          <p:cNvSpPr txBox="1"/>
          <p:nvPr/>
        </p:nvSpPr>
        <p:spPr>
          <a:xfrm>
            <a:off x="11521440" y="6473952"/>
            <a:ext cx="365760"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65760"/>
          </a:xfrm>
          <a:prstGeom prst="rect">
            <a:avLst/>
          </a:prstGeom>
          <a:noFill/>
          <a:ln/>
        </p:spPr>
        <p:txBody>
          <a:bodyPr wrap="square" rtlCol="0" anchor="ctr"/>
          <a:lstStyle/>
          <a:p>
            <a:pPr indent="0" marL="0">
              <a:buNone/>
            </a:pPr>
            <a:r>
              <a:rPr lang="en-US" sz="1300" b="1" spc="200" kern="0" dirty="0">
                <a:solidFill>
                  <a:srgbClr val="22D3EE"/>
                </a:solidFill>
                <a:latin typeface="Calibri" pitchFamily="34" charset="0"/>
                <a:ea typeface="Calibri" pitchFamily="34" charset="-122"/>
                <a:cs typeface="Calibri" pitchFamily="34" charset="-120"/>
              </a:rPr>
              <a:t>NOT JUST A NOTEBOOK DEMO</a:t>
            </a:r>
            <a:endParaRPr lang="en-US" sz="1300" dirty="0"/>
          </a:p>
        </p:txBody>
      </p:sp>
      <p:sp>
        <p:nvSpPr>
          <p:cNvPr id="3" name="Text 1"/>
          <p:cNvSpPr txBox="1"/>
          <p:nvPr/>
        </p:nvSpPr>
        <p:spPr>
          <a:xfrm>
            <a:off x="548640" y="640080"/>
            <a:ext cx="10789920"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Tested, documented, and deployable</a:t>
            </a:r>
            <a:endParaRPr lang="en-US" sz="3200" dirty="0"/>
          </a:p>
        </p:txBody>
      </p:sp>
      <p:sp>
        <p:nvSpPr>
          <p:cNvPr id="4" name="Shape 2"/>
          <p:cNvSpPr/>
          <p:nvPr/>
        </p:nvSpPr>
        <p:spPr>
          <a:xfrm>
            <a:off x="548640" y="1965960"/>
            <a:ext cx="2606040" cy="2286000"/>
          </a:xfrm>
          <a:prstGeom prst="roundRect">
            <a:avLst>
              <a:gd name="adj" fmla="val 4800"/>
            </a:avLst>
          </a:prstGeom>
          <a:solidFill>
            <a:srgbClr val="312E81"/>
          </a:solidFill>
          <a:ln/>
          <a:effectLst>
            <a:outerShdw sx="100000" sy="100000" kx="0" ky="0" algn="bl" rotWithShape="0" blurRad="76200" dist="38100" dir="5400000">
              <a:srgbClr val="0F172A">
                <a:alpha val="25000"/>
              </a:srgbClr>
            </a:outerShdw>
          </a:effectLst>
        </p:spPr>
      </p:sp>
      <p:sp>
        <p:nvSpPr>
          <p:cNvPr id="5" name="Text 3"/>
          <p:cNvSpPr txBox="1"/>
          <p:nvPr/>
        </p:nvSpPr>
        <p:spPr>
          <a:xfrm>
            <a:off x="548640" y="2148840"/>
            <a:ext cx="2606040" cy="1005840"/>
          </a:xfrm>
          <a:prstGeom prst="rect">
            <a:avLst/>
          </a:prstGeom>
          <a:noFill/>
          <a:ln/>
        </p:spPr>
        <p:txBody>
          <a:bodyPr wrap="square" rtlCol="0" anchor="ctr"/>
          <a:lstStyle/>
          <a:p>
            <a:pPr algn="ctr" indent="0" marL="0">
              <a:buNone/>
            </a:pPr>
            <a:r>
              <a:rPr lang="en-US" sz="3400" b="1" dirty="0">
                <a:solidFill>
                  <a:srgbClr val="22D3EE"/>
                </a:solidFill>
                <a:latin typeface="Cambria" pitchFamily="34" charset="0"/>
                <a:ea typeface="Cambria" pitchFamily="34" charset="-122"/>
                <a:cs typeface="Cambria" pitchFamily="34" charset="-120"/>
              </a:rPr>
              <a:t>491</a:t>
            </a:r>
            <a:endParaRPr lang="en-US" sz="3400" dirty="0"/>
          </a:p>
        </p:txBody>
      </p:sp>
      <p:sp>
        <p:nvSpPr>
          <p:cNvPr id="6" name="Text 4"/>
          <p:cNvSpPr txBox="1"/>
          <p:nvPr/>
        </p:nvSpPr>
        <p:spPr>
          <a:xfrm>
            <a:off x="685800" y="3200400"/>
            <a:ext cx="2331720" cy="914400"/>
          </a:xfrm>
          <a:prstGeom prst="rect">
            <a:avLst/>
          </a:prstGeom>
          <a:noFill/>
          <a:ln/>
        </p:spPr>
        <p:txBody>
          <a:bodyPr wrap="square" rtlCol="0" anchor="ctr"/>
          <a:lstStyle/>
          <a:p>
            <a:pPr algn="ctr" indent="0" marL="0">
              <a:lnSpc>
                <a:spcPct val="120000"/>
              </a:lnSpc>
              <a:buNone/>
            </a:pPr>
            <a:r>
              <a:rPr lang="en-US" sz="1150" dirty="0">
                <a:solidFill>
                  <a:srgbClr val="C7D2FE"/>
                </a:solidFill>
                <a:latin typeface="Calibri" pitchFamily="34" charset="0"/>
                <a:ea typeface="Calibri" pitchFamily="34" charset="-122"/>
                <a:cs typeface="Calibri" pitchFamily="34" charset="-120"/>
              </a:rPr>
              <a:t>automated tests</a:t>
            </a:r>
            <a:endParaRPr lang="en-US" sz="1150" dirty="0"/>
          </a:p>
          <a:p>
            <a:pPr algn="ctr" indent="0" marL="0">
              <a:lnSpc>
                <a:spcPct val="120000"/>
              </a:lnSpc>
              <a:buNone/>
            </a:pPr>
            <a:r>
              <a:rPr lang="en-US" sz="1150" dirty="0">
                <a:solidFill>
                  <a:srgbClr val="C7D2FE"/>
                </a:solidFill>
                <a:latin typeface="Calibri" pitchFamily="34" charset="0"/>
                <a:ea typeface="Calibri" pitchFamily="34" charset="-122"/>
                <a:cs typeface="Calibri" pitchFamily="34" charset="-120"/>
              </a:rPr>
              <a:t>(pytest + Playwright + Node)</a:t>
            </a:r>
            <a:endParaRPr lang="en-US" sz="1150" dirty="0"/>
          </a:p>
        </p:txBody>
      </p:sp>
      <p:sp>
        <p:nvSpPr>
          <p:cNvPr id="7" name="Shape 5"/>
          <p:cNvSpPr/>
          <p:nvPr/>
        </p:nvSpPr>
        <p:spPr>
          <a:xfrm>
            <a:off x="3355848" y="1965960"/>
            <a:ext cx="2606040" cy="2286000"/>
          </a:xfrm>
          <a:prstGeom prst="roundRect">
            <a:avLst>
              <a:gd name="adj" fmla="val 4800"/>
            </a:avLst>
          </a:prstGeom>
          <a:solidFill>
            <a:srgbClr val="312E81"/>
          </a:solidFill>
          <a:ln/>
          <a:effectLst>
            <a:outerShdw sx="100000" sy="100000" kx="0" ky="0" algn="bl" rotWithShape="0" blurRad="76200" dist="38100" dir="5400000">
              <a:srgbClr val="0F172A">
                <a:alpha val="25000"/>
              </a:srgbClr>
            </a:outerShdw>
          </a:effectLst>
        </p:spPr>
      </p:sp>
      <p:sp>
        <p:nvSpPr>
          <p:cNvPr id="8" name="Text 6"/>
          <p:cNvSpPr txBox="1"/>
          <p:nvPr/>
        </p:nvSpPr>
        <p:spPr>
          <a:xfrm>
            <a:off x="3355848" y="2148840"/>
            <a:ext cx="2606040" cy="1005840"/>
          </a:xfrm>
          <a:prstGeom prst="rect">
            <a:avLst/>
          </a:prstGeom>
          <a:noFill/>
          <a:ln/>
        </p:spPr>
        <p:txBody>
          <a:bodyPr wrap="square" rtlCol="0" anchor="ctr"/>
          <a:lstStyle/>
          <a:p>
            <a:pPr algn="ctr" indent="0" marL="0">
              <a:buNone/>
            </a:pPr>
            <a:r>
              <a:rPr lang="en-US" sz="3400" b="1" dirty="0">
                <a:solidFill>
                  <a:srgbClr val="22D3EE"/>
                </a:solidFill>
                <a:latin typeface="Cambria" pitchFamily="34" charset="0"/>
                <a:ea typeface="Cambria" pitchFamily="34" charset="-122"/>
                <a:cs typeface="Cambria" pitchFamily="34" charset="-120"/>
              </a:rPr>
              <a:t>100%</a:t>
            </a:r>
            <a:endParaRPr lang="en-US" sz="3400" dirty="0"/>
          </a:p>
        </p:txBody>
      </p:sp>
      <p:sp>
        <p:nvSpPr>
          <p:cNvPr id="9" name="Text 7"/>
          <p:cNvSpPr txBox="1"/>
          <p:nvPr/>
        </p:nvSpPr>
        <p:spPr>
          <a:xfrm>
            <a:off x="3493008" y="3200400"/>
            <a:ext cx="2331720" cy="914400"/>
          </a:xfrm>
          <a:prstGeom prst="rect">
            <a:avLst/>
          </a:prstGeom>
          <a:noFill/>
          <a:ln/>
        </p:spPr>
        <p:txBody>
          <a:bodyPr wrap="square" rtlCol="0" anchor="ctr"/>
          <a:lstStyle/>
          <a:p>
            <a:pPr algn="ctr" indent="0" marL="0">
              <a:lnSpc>
                <a:spcPct val="120000"/>
              </a:lnSpc>
              <a:buNone/>
            </a:pPr>
            <a:r>
              <a:rPr lang="en-US" sz="1150" dirty="0">
                <a:solidFill>
                  <a:srgbClr val="C7D2FE"/>
                </a:solidFill>
                <a:latin typeface="Calibri" pitchFamily="34" charset="0"/>
                <a:ea typeface="Calibri" pitchFamily="34" charset="-122"/>
                <a:cs typeface="Calibri" pitchFamily="34" charset="-120"/>
              </a:rPr>
              <a:t>of the test suite runs</a:t>
            </a:r>
            <a:endParaRPr lang="en-US" sz="1150" dirty="0"/>
          </a:p>
          <a:p>
            <a:pPr algn="ctr" indent="0" marL="0">
              <a:lnSpc>
                <a:spcPct val="120000"/>
              </a:lnSpc>
              <a:buNone/>
            </a:pPr>
            <a:r>
              <a:rPr lang="en-US" sz="1150" dirty="0">
                <a:solidFill>
                  <a:srgbClr val="C7D2FE"/>
                </a:solidFill>
                <a:latin typeface="Calibri" pitchFamily="34" charset="0"/>
                <a:ea typeface="Calibri" pitchFamily="34" charset="-122"/>
                <a:cs typeface="Calibri" pitchFamily="34" charset="-120"/>
              </a:rPr>
              <a:t>on every push via CI</a:t>
            </a:r>
            <a:endParaRPr lang="en-US" sz="1150" dirty="0"/>
          </a:p>
        </p:txBody>
      </p:sp>
      <p:sp>
        <p:nvSpPr>
          <p:cNvPr id="10" name="Shape 8"/>
          <p:cNvSpPr/>
          <p:nvPr/>
        </p:nvSpPr>
        <p:spPr>
          <a:xfrm>
            <a:off x="6163056" y="1965960"/>
            <a:ext cx="2606040" cy="2286000"/>
          </a:xfrm>
          <a:prstGeom prst="roundRect">
            <a:avLst>
              <a:gd name="adj" fmla="val 4800"/>
            </a:avLst>
          </a:prstGeom>
          <a:solidFill>
            <a:srgbClr val="312E81"/>
          </a:solidFill>
          <a:ln/>
          <a:effectLst>
            <a:outerShdw sx="100000" sy="100000" kx="0" ky="0" algn="bl" rotWithShape="0" blurRad="76200" dist="38100" dir="5400000">
              <a:srgbClr val="0F172A">
                <a:alpha val="25000"/>
              </a:srgbClr>
            </a:outerShdw>
          </a:effectLst>
        </p:spPr>
      </p:sp>
      <p:sp>
        <p:nvSpPr>
          <p:cNvPr id="11" name="Text 9"/>
          <p:cNvSpPr txBox="1"/>
          <p:nvPr/>
        </p:nvSpPr>
        <p:spPr>
          <a:xfrm>
            <a:off x="6163056" y="2148840"/>
            <a:ext cx="2606040" cy="1005840"/>
          </a:xfrm>
          <a:prstGeom prst="rect">
            <a:avLst/>
          </a:prstGeom>
          <a:noFill/>
          <a:ln/>
        </p:spPr>
        <p:txBody>
          <a:bodyPr wrap="square" rtlCol="0" anchor="ctr"/>
          <a:lstStyle/>
          <a:p>
            <a:pPr algn="ctr" indent="0" marL="0">
              <a:buNone/>
            </a:pPr>
            <a:r>
              <a:rPr lang="en-US" sz="3400" b="1" dirty="0">
                <a:solidFill>
                  <a:srgbClr val="22D3EE"/>
                </a:solidFill>
                <a:latin typeface="Cambria" pitchFamily="34" charset="0"/>
                <a:ea typeface="Cambria" pitchFamily="34" charset="-122"/>
                <a:cs typeface="Cambria" pitchFamily="34" charset="-120"/>
              </a:rPr>
              <a:t>3</a:t>
            </a:r>
            <a:endParaRPr lang="en-US" sz="3400" dirty="0"/>
          </a:p>
        </p:txBody>
      </p:sp>
      <p:sp>
        <p:nvSpPr>
          <p:cNvPr id="12" name="Text 10"/>
          <p:cNvSpPr txBox="1"/>
          <p:nvPr/>
        </p:nvSpPr>
        <p:spPr>
          <a:xfrm>
            <a:off x="6300216" y="3200400"/>
            <a:ext cx="2331720" cy="914400"/>
          </a:xfrm>
          <a:prstGeom prst="rect">
            <a:avLst/>
          </a:prstGeom>
          <a:noFill/>
          <a:ln/>
        </p:spPr>
        <p:txBody>
          <a:bodyPr wrap="square" rtlCol="0" anchor="ctr"/>
          <a:lstStyle/>
          <a:p>
            <a:pPr algn="ctr" indent="0" marL="0">
              <a:lnSpc>
                <a:spcPct val="120000"/>
              </a:lnSpc>
              <a:buNone/>
            </a:pPr>
            <a:r>
              <a:rPr lang="en-US" sz="1150" dirty="0">
                <a:solidFill>
                  <a:srgbClr val="C7D2FE"/>
                </a:solidFill>
                <a:latin typeface="Calibri" pitchFamily="34" charset="0"/>
                <a:ea typeface="Calibri" pitchFamily="34" charset="-122"/>
                <a:cs typeface="Calibri" pitchFamily="34" charset="-120"/>
              </a:rPr>
              <a:t>solvers benchmarked side by side</a:t>
            </a:r>
            <a:endParaRPr lang="en-US" sz="1150" dirty="0"/>
          </a:p>
          <a:p>
            <a:pPr algn="ctr" indent="0" marL="0">
              <a:lnSpc>
                <a:spcPct val="120000"/>
              </a:lnSpc>
              <a:buNone/>
            </a:pPr>
            <a:r>
              <a:rPr lang="en-US" sz="1150" dirty="0">
                <a:solidFill>
                  <a:srgbClr val="C7D2FE"/>
                </a:solidFill>
                <a:latin typeface="Calibri" pitchFamily="34" charset="0"/>
                <a:ea typeface="Calibri" pitchFamily="34" charset="-122"/>
                <a:cs typeface="Calibri" pitchFamily="34" charset="-120"/>
              </a:rPr>
              <a:t>(2-opt, OR-Tools, QUBO+SA)</a:t>
            </a:r>
            <a:endParaRPr lang="en-US" sz="1150" dirty="0"/>
          </a:p>
        </p:txBody>
      </p:sp>
      <p:sp>
        <p:nvSpPr>
          <p:cNvPr id="13" name="Shape 11"/>
          <p:cNvSpPr/>
          <p:nvPr/>
        </p:nvSpPr>
        <p:spPr>
          <a:xfrm>
            <a:off x="8970264" y="1965960"/>
            <a:ext cx="2606040" cy="2286000"/>
          </a:xfrm>
          <a:prstGeom prst="roundRect">
            <a:avLst>
              <a:gd name="adj" fmla="val 4800"/>
            </a:avLst>
          </a:prstGeom>
          <a:solidFill>
            <a:srgbClr val="312E81"/>
          </a:solidFill>
          <a:ln/>
          <a:effectLst>
            <a:outerShdw sx="100000" sy="100000" kx="0" ky="0" algn="bl" rotWithShape="0" blurRad="76200" dist="38100" dir="5400000">
              <a:srgbClr val="0F172A">
                <a:alpha val="25000"/>
              </a:srgbClr>
            </a:outerShdw>
          </a:effectLst>
        </p:spPr>
      </p:sp>
      <p:sp>
        <p:nvSpPr>
          <p:cNvPr id="14" name="Text 12"/>
          <p:cNvSpPr txBox="1"/>
          <p:nvPr/>
        </p:nvSpPr>
        <p:spPr>
          <a:xfrm>
            <a:off x="8970264" y="2148840"/>
            <a:ext cx="2606040" cy="1005840"/>
          </a:xfrm>
          <a:prstGeom prst="rect">
            <a:avLst/>
          </a:prstGeom>
          <a:noFill/>
          <a:ln/>
        </p:spPr>
        <p:txBody>
          <a:bodyPr wrap="square" rtlCol="0" anchor="ctr"/>
          <a:lstStyle/>
          <a:p>
            <a:pPr algn="ctr" indent="0" marL="0">
              <a:buNone/>
            </a:pPr>
            <a:r>
              <a:rPr lang="en-US" sz="3400" b="1" dirty="0">
                <a:solidFill>
                  <a:srgbClr val="22D3EE"/>
                </a:solidFill>
                <a:latin typeface="Cambria" pitchFamily="34" charset="0"/>
                <a:ea typeface="Cambria" pitchFamily="34" charset="-122"/>
                <a:cs typeface="Cambria" pitchFamily="34" charset="-120"/>
              </a:rPr>
              <a:t>1</a:t>
            </a:r>
            <a:endParaRPr lang="en-US" sz="3400" dirty="0"/>
          </a:p>
        </p:txBody>
      </p:sp>
      <p:sp>
        <p:nvSpPr>
          <p:cNvPr id="15" name="Text 13"/>
          <p:cNvSpPr txBox="1"/>
          <p:nvPr/>
        </p:nvSpPr>
        <p:spPr>
          <a:xfrm>
            <a:off x="9107424" y="3200400"/>
            <a:ext cx="2331720" cy="914400"/>
          </a:xfrm>
          <a:prstGeom prst="rect">
            <a:avLst/>
          </a:prstGeom>
          <a:noFill/>
          <a:ln/>
        </p:spPr>
        <p:txBody>
          <a:bodyPr wrap="square" rtlCol="0" anchor="ctr"/>
          <a:lstStyle/>
          <a:p>
            <a:pPr algn="ctr" indent="0" marL="0">
              <a:lnSpc>
                <a:spcPct val="120000"/>
              </a:lnSpc>
              <a:buNone/>
            </a:pPr>
            <a:r>
              <a:rPr lang="en-US" sz="1150" dirty="0">
                <a:solidFill>
                  <a:srgbClr val="C7D2FE"/>
                </a:solidFill>
                <a:latin typeface="Calibri" pitchFamily="34" charset="0"/>
                <a:ea typeface="Calibri" pitchFamily="34" charset="-122"/>
                <a:cs typeface="Calibri" pitchFamily="34" charset="-120"/>
              </a:rPr>
              <a:t>command to self-host</a:t>
            </a:r>
            <a:endParaRPr lang="en-US" sz="1150" dirty="0"/>
          </a:p>
          <a:p>
            <a:pPr algn="ctr" indent="0" marL="0">
              <a:lnSpc>
                <a:spcPct val="120000"/>
              </a:lnSpc>
              <a:buNone/>
            </a:pPr>
            <a:r>
              <a:rPr lang="en-US" sz="1150" dirty="0">
                <a:solidFill>
                  <a:srgbClr val="C7D2FE"/>
                </a:solidFill>
                <a:latin typeface="Calibri" pitchFamily="34" charset="0"/>
                <a:ea typeface="Calibri" pitchFamily="34" charset="-122"/>
                <a:cs typeface="Calibri" pitchFamily="34" charset="-120"/>
              </a:rPr>
              <a:t>(Dockerfile included)</a:t>
            </a:r>
            <a:endParaRPr lang="en-US" sz="1150" dirty="0"/>
          </a:p>
        </p:txBody>
      </p:sp>
      <p:sp>
        <p:nvSpPr>
          <p:cNvPr id="16" name="Text 14"/>
          <p:cNvSpPr txBox="1"/>
          <p:nvPr/>
        </p:nvSpPr>
        <p:spPr>
          <a:xfrm>
            <a:off x="548640" y="4663440"/>
            <a:ext cx="11064240" cy="914400"/>
          </a:xfrm>
          <a:prstGeom prst="rect">
            <a:avLst/>
          </a:prstGeom>
          <a:noFill/>
          <a:ln/>
        </p:spPr>
        <p:txBody>
          <a:bodyPr wrap="square" rtlCol="0" anchor="ctr"/>
          <a:lstStyle/>
          <a:p>
            <a:pPr indent="0" marL="0">
              <a:lnSpc>
                <a:spcPct val="130000"/>
              </a:lnSpc>
              <a:buNone/>
            </a:pPr>
            <a:r>
              <a:rPr lang="en-US" sz="1400" i="1" dirty="0">
                <a:solidFill>
                  <a:srgbClr val="C7D2FE"/>
                </a:solidFill>
                <a:latin typeface="Calibri" pitchFamily="34" charset="0"/>
                <a:ea typeface="Calibri" pitchFamily="34" charset="-122"/>
                <a:cs typeface="Calibri" pitchFamily="34" charset="-120"/>
              </a:rPr>
              <a:t>openapi.yaml is checked against the live Flask responses by the test suite itself — so the documentation can't silently drift from what the API actually returns.</a:t>
            </a:r>
            <a:endParaRPr lang="en-US" sz="1400" dirty="0"/>
          </a:p>
        </p:txBody>
      </p:sp>
      <p:sp>
        <p:nvSpPr>
          <p:cNvPr id="17" name="Text 15"/>
          <p:cNvSpPr txBox="1"/>
          <p:nvPr/>
        </p:nvSpPr>
        <p:spPr>
          <a:xfrm>
            <a:off x="54864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Quantum-Inspired Traffic Router  ·  SIH26137</a:t>
            </a:r>
            <a:endParaRPr lang="en-US" sz="900" dirty="0"/>
          </a:p>
        </p:txBody>
      </p:sp>
      <p:sp>
        <p:nvSpPr>
          <p:cNvPr id="18" name="Text 16"/>
          <p:cNvSpPr txBox="1"/>
          <p:nvPr/>
        </p:nvSpPr>
        <p:spPr>
          <a:xfrm>
            <a:off x="11521440" y="6473952"/>
            <a:ext cx="365760"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65760"/>
          </a:xfrm>
          <a:prstGeom prst="rect">
            <a:avLst/>
          </a:prstGeom>
          <a:noFill/>
          <a:ln/>
        </p:spPr>
        <p:txBody>
          <a:bodyPr wrap="square" rtlCol="0" anchor="ctr"/>
          <a:lstStyle/>
          <a:p>
            <a:pPr indent="0" marL="0">
              <a:buNone/>
            </a:pPr>
            <a:r>
              <a:rPr lang="en-US" sz="1300" b="1" spc="200" kern="0" dirty="0">
                <a:solidFill>
                  <a:srgbClr val="7C3AED"/>
                </a:solidFill>
                <a:latin typeface="Calibri" pitchFamily="34" charset="0"/>
                <a:ea typeface="Calibri" pitchFamily="34" charset="-122"/>
                <a:cs typeface="Calibri" pitchFamily="34" charset="-120"/>
              </a:rPr>
              <a:t>WHY THIS IS PATENT-SHAPED, NOT JUST CODE</a:t>
            </a:r>
            <a:endParaRPr lang="en-US" sz="1300" dirty="0"/>
          </a:p>
        </p:txBody>
      </p:sp>
      <p:sp>
        <p:nvSpPr>
          <p:cNvPr id="3" name="Text 1"/>
          <p:cNvSpPr txBox="1"/>
          <p:nvPr/>
        </p:nvSpPr>
        <p:spPr>
          <a:xfrm>
            <a:off x="548640" y="640080"/>
            <a:ext cx="10789920" cy="822960"/>
          </a:xfrm>
          <a:prstGeom prst="rect">
            <a:avLst/>
          </a:prstGeom>
          <a:noFill/>
          <a:ln/>
        </p:spPr>
        <p:txBody>
          <a:bodyPr wrap="square" rtlCol="0" anchor="ctr"/>
          <a:lstStyle/>
          <a:p>
            <a:pPr indent="0" marL="0">
              <a:buNone/>
            </a:pPr>
            <a:r>
              <a:rPr lang="en-US" sz="3200" b="1" dirty="0">
                <a:solidFill>
                  <a:srgbClr val="1E1B4B"/>
                </a:solidFill>
                <a:latin typeface="Cambria" pitchFamily="34" charset="0"/>
                <a:ea typeface="Cambria" pitchFamily="34" charset="-122"/>
                <a:cs typeface="Cambria" pitchFamily="34" charset="-120"/>
              </a:rPr>
              <a:t>A concrete, measurable technical effect</a:t>
            </a:r>
            <a:endParaRPr lang="en-US" sz="3200" dirty="0"/>
          </a:p>
        </p:txBody>
      </p:sp>
      <p:sp>
        <p:nvSpPr>
          <p:cNvPr id="4" name="Shape 2"/>
          <p:cNvSpPr/>
          <p:nvPr/>
        </p:nvSpPr>
        <p:spPr>
          <a:xfrm>
            <a:off x="548640" y="1783080"/>
            <a:ext cx="11064240" cy="1737360"/>
          </a:xfrm>
          <a:prstGeom prst="roundRect">
            <a:avLst>
              <a:gd name="adj" fmla="val 6316"/>
            </a:avLst>
          </a:prstGeom>
          <a:solidFill>
            <a:srgbClr val="1E1B4B"/>
          </a:solidFill>
          <a:ln/>
          <a:effectLst>
            <a:outerShdw sx="100000" sy="100000" kx="0" ky="0" algn="bl" rotWithShape="0" blurRad="76200" dist="38100" dir="5400000">
              <a:srgbClr val="0F172A">
                <a:alpha val="25000"/>
              </a:srgbClr>
            </a:outerShdw>
          </a:effectLst>
        </p:spPr>
      </p:sp>
      <p:sp>
        <p:nvSpPr>
          <p:cNvPr id="5" name="Text 3"/>
          <p:cNvSpPr txBox="1"/>
          <p:nvPr/>
        </p:nvSpPr>
        <p:spPr>
          <a:xfrm>
            <a:off x="914400" y="1965960"/>
            <a:ext cx="10332720" cy="1371600"/>
          </a:xfrm>
          <a:prstGeom prst="rect">
            <a:avLst/>
          </a:prstGeom>
          <a:noFill/>
          <a:ln/>
        </p:spPr>
        <p:txBody>
          <a:bodyPr wrap="square" rtlCol="0" anchor="ctr"/>
          <a:lstStyle/>
          <a:p>
            <a:pPr indent="0" marL="0">
              <a:lnSpc>
                <a:spcPct val="130000"/>
              </a:lnSpc>
              <a:buNone/>
            </a:pPr>
            <a:r>
              <a:rPr lang="en-US" sz="1550" i="1" dirty="0">
                <a:solidFill>
                  <a:srgbClr val="E0E7FF"/>
                </a:solidFill>
                <a:latin typeface="Calibri" pitchFamily="34" charset="0"/>
                <a:ea typeface="Calibri" pitchFamily="34" charset="-122"/>
                <a:cs typeface="Calibri" pitchFamily="34" charset="-120"/>
              </a:rPr>
              <a:t>“A routing optimizer in which additional real-world dispatch constraints are incorporated as composable penalty terms within a single QUBO formulation, guaranteeing constraint satisfaction by construction — compared to a measured tendency of unconstrained classical local-search heuristics to violate such constraints and require costly post-hoc repair.”</a:t>
            </a:r>
            <a:endParaRPr lang="en-US" sz="1550" dirty="0"/>
          </a:p>
        </p:txBody>
      </p:sp>
      <p:sp>
        <p:nvSpPr>
          <p:cNvPr id="6" name="Text 4"/>
          <p:cNvSpPr txBox="1"/>
          <p:nvPr/>
        </p:nvSpPr>
        <p:spPr>
          <a:xfrm>
            <a:off x="548640" y="3794760"/>
            <a:ext cx="11064240" cy="2377440"/>
          </a:xfrm>
          <a:prstGeom prst="rect">
            <a:avLst/>
          </a:prstGeom>
          <a:noFill/>
          <a:ln/>
        </p:spPr>
        <p:txBody>
          <a:bodyPr wrap="square" rtlCol="0" anchor="ctr"/>
          <a:lstStyle/>
          <a:p>
            <a:pPr marL="342900" indent="-342900">
              <a:lnSpc>
                <a:spcPct val="125000"/>
              </a:lnSpc>
              <a:spcAft>
                <a:spcPts val="1200"/>
              </a:spcAft>
              <a:buSzPct val="100000"/>
              <a:buChar char="●"/>
            </a:pPr>
            <a:r>
              <a:rPr lang="en-US" sz="1450" dirty="0">
                <a:solidFill>
                  <a:srgbClr val="475569"/>
                </a:solidFill>
                <a:latin typeface="Calibri" pitchFamily="34" charset="0"/>
                <a:ea typeface="Calibri" pitchFamily="34" charset="-122"/>
                <a:cs typeface="Calibri" pitchFamily="34" charset="-120"/>
              </a:rPr>
              <a:t>Measured, not asserted: Experiment 2's 15/15 vs 8/15 gap is reproducible with `python3 src/benchmark.py`.</a:t>
            </a:r>
            <a:endParaRPr lang="en-US" sz="1450" dirty="0"/>
          </a:p>
          <a:p>
            <a:pPr marL="342900" indent="-342900">
              <a:lnSpc>
                <a:spcPct val="125000"/>
              </a:lnSpc>
              <a:spcAft>
                <a:spcPts val="1200"/>
              </a:spcAft>
              <a:buSzPct val="100000"/>
              <a:buChar char="●"/>
            </a:pPr>
            <a:r>
              <a:rPr lang="en-US" sz="1450" dirty="0">
                <a:solidFill>
                  <a:srgbClr val="475569"/>
                </a:solidFill>
                <a:latin typeface="Calibri" pitchFamily="34" charset="0"/>
                <a:ea typeface="Calibri" pitchFamily="34" charset="-122"/>
                <a:cs typeface="Calibri" pitchFamily="34" charset="-120"/>
              </a:rPr>
              <a:t>Composable by design: precedence and multi-vehicle capacity are each one more penalty term — not a bespoke solver per rule, unlike classical VRP tooling.</a:t>
            </a:r>
            <a:endParaRPr lang="en-US" sz="1450" dirty="0"/>
          </a:p>
          <a:p>
            <a:pPr marL="342900" indent="-342900">
              <a:lnSpc>
                <a:spcPct val="125000"/>
              </a:lnSpc>
              <a:spcAft>
                <a:spcPts val="1200"/>
              </a:spcAft>
              <a:buSzPct val="100000"/>
              <a:buChar char="●"/>
            </a:pPr>
            <a:r>
              <a:rPr lang="en-US" sz="1450" dirty="0">
                <a:solidFill>
                  <a:srgbClr val="475569"/>
                </a:solidFill>
                <a:latin typeface="Calibri" pitchFamily="34" charset="0"/>
                <a:ea typeface="Calibri" pitchFamily="34" charset="-122"/>
                <a:cs typeface="Calibri" pitchFamily="34" charset="-120"/>
              </a:rPr>
              <a:t>Aligned with the 2025 CRI patent guidance's bar for a “concrete, measurable technical effect,” not an abstract algorithm claim.</a:t>
            </a:r>
            <a:endParaRPr lang="en-US" sz="1450" dirty="0"/>
          </a:p>
        </p:txBody>
      </p:sp>
      <p:sp>
        <p:nvSpPr>
          <p:cNvPr id="7" name="Text 5"/>
          <p:cNvSpPr txBox="1"/>
          <p:nvPr/>
        </p:nvSpPr>
        <p:spPr>
          <a:xfrm>
            <a:off x="54864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Quantum-Inspired Traffic Router  ·  SIH26137</a:t>
            </a:r>
            <a:endParaRPr lang="en-US" sz="900" dirty="0"/>
          </a:p>
        </p:txBody>
      </p:sp>
      <p:sp>
        <p:nvSpPr>
          <p:cNvPr id="8" name="Text 6"/>
          <p:cNvSpPr txBox="1"/>
          <p:nvPr/>
        </p:nvSpPr>
        <p:spPr>
          <a:xfrm>
            <a:off x="11521440" y="6473952"/>
            <a:ext cx="365760"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65760"/>
          </a:xfrm>
          <a:prstGeom prst="rect">
            <a:avLst/>
          </a:prstGeom>
          <a:noFill/>
          <a:ln/>
        </p:spPr>
        <p:txBody>
          <a:bodyPr wrap="square" rtlCol="0" anchor="ctr"/>
          <a:lstStyle/>
          <a:p>
            <a:pPr indent="0" marL="0">
              <a:buNone/>
            </a:pPr>
            <a:r>
              <a:rPr lang="en-US" sz="1300" b="1" spc="200" kern="0" dirty="0">
                <a:solidFill>
                  <a:srgbClr val="7C3AED"/>
                </a:solidFill>
                <a:latin typeface="Calibri" pitchFamily="34" charset="0"/>
                <a:ea typeface="Calibri" pitchFamily="34" charset="-122"/>
                <a:cs typeface="Calibri" pitchFamily="34" charset="-120"/>
              </a:rPr>
              <a:t>WHAT'S NEXT</a:t>
            </a:r>
            <a:endParaRPr lang="en-US" sz="1300" dirty="0"/>
          </a:p>
        </p:txBody>
      </p:sp>
      <p:sp>
        <p:nvSpPr>
          <p:cNvPr id="3" name="Text 1"/>
          <p:cNvSpPr txBox="1"/>
          <p:nvPr/>
        </p:nvSpPr>
        <p:spPr>
          <a:xfrm>
            <a:off x="548640" y="640080"/>
            <a:ext cx="10789920" cy="822960"/>
          </a:xfrm>
          <a:prstGeom prst="rect">
            <a:avLst/>
          </a:prstGeom>
          <a:noFill/>
          <a:ln/>
        </p:spPr>
        <p:txBody>
          <a:bodyPr wrap="square" rtlCol="0" anchor="ctr"/>
          <a:lstStyle/>
          <a:p>
            <a:pPr indent="0" marL="0">
              <a:buNone/>
            </a:pPr>
            <a:r>
              <a:rPr lang="en-US" sz="3200" b="1" dirty="0">
                <a:solidFill>
                  <a:srgbClr val="1E1B4B"/>
                </a:solidFill>
                <a:latin typeface="Cambria" pitchFamily="34" charset="0"/>
                <a:ea typeface="Cambria" pitchFamily="34" charset="-122"/>
                <a:cs typeface="Cambria" pitchFamily="34" charset="-120"/>
              </a:rPr>
              <a:t>Already live vs. the honest next steps</a:t>
            </a:r>
            <a:endParaRPr lang="en-US" sz="3200" dirty="0"/>
          </a:p>
        </p:txBody>
      </p:sp>
      <p:sp>
        <p:nvSpPr>
          <p:cNvPr id="4" name="Shape 2"/>
          <p:cNvSpPr/>
          <p:nvPr/>
        </p:nvSpPr>
        <p:spPr>
          <a:xfrm>
            <a:off x="548640" y="1828800"/>
            <a:ext cx="5394960" cy="4114800"/>
          </a:xfrm>
          <a:prstGeom prst="roundRect">
            <a:avLst>
              <a:gd name="adj" fmla="val 2667"/>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5" name="Shape 3"/>
          <p:cNvSpPr/>
          <p:nvPr/>
        </p:nvSpPr>
        <p:spPr>
          <a:xfrm>
            <a:off x="868680" y="2148840"/>
            <a:ext cx="320040" cy="320040"/>
          </a:xfrm>
          <a:prstGeom prst="ellipse">
            <a:avLst/>
          </a:prstGeom>
          <a:solidFill>
            <a:srgbClr val="22C55E"/>
          </a:solidFill>
          <a:ln/>
        </p:spPr>
      </p:sp>
      <p:sp>
        <p:nvSpPr>
          <p:cNvPr id="6" name="Text 4"/>
          <p:cNvSpPr txBox="1"/>
          <p:nvPr/>
        </p:nvSpPr>
        <p:spPr>
          <a:xfrm>
            <a:off x="1325880" y="2121408"/>
            <a:ext cx="4297680" cy="411480"/>
          </a:xfrm>
          <a:prstGeom prst="rect">
            <a:avLst/>
          </a:prstGeom>
          <a:noFill/>
          <a:ln/>
        </p:spPr>
        <p:txBody>
          <a:bodyPr wrap="square" rtlCol="0" anchor="ctr"/>
          <a:lstStyle/>
          <a:p>
            <a:pPr indent="0" marL="0">
              <a:buNone/>
            </a:pPr>
            <a:r>
              <a:rPr lang="en-US" sz="1700" b="1" dirty="0">
                <a:solidFill>
                  <a:srgbClr val="1E1B4B"/>
                </a:solidFill>
                <a:latin typeface="Cambria" pitchFamily="34" charset="0"/>
                <a:ea typeface="Cambria" pitchFamily="34" charset="-122"/>
                <a:cs typeface="Cambria" pitchFamily="34" charset="-120"/>
              </a:rPr>
              <a:t>Already shipped</a:t>
            </a:r>
            <a:endParaRPr lang="en-US" sz="1700" dirty="0"/>
          </a:p>
        </p:txBody>
      </p:sp>
      <p:sp>
        <p:nvSpPr>
          <p:cNvPr id="7" name="Text 5"/>
          <p:cNvSpPr txBox="1"/>
          <p:nvPr/>
        </p:nvSpPr>
        <p:spPr>
          <a:xfrm>
            <a:off x="914400" y="2788920"/>
            <a:ext cx="4663440" cy="2834640"/>
          </a:xfrm>
          <a:prstGeom prst="rect">
            <a:avLst/>
          </a:prstGeom>
          <a:noFill/>
          <a:ln/>
        </p:spPr>
        <p:txBody>
          <a:bodyPr wrap="square" rtlCol="0" anchor="ctr"/>
          <a:lstStyle/>
          <a:p>
            <a:pPr marL="342900" indent="-342900">
              <a:lnSpc>
                <a:spcPct val="125000"/>
              </a:lnSpc>
              <a:spcAft>
                <a:spcPts val="1600"/>
              </a:spcAft>
              <a:buSzPct val="100000"/>
              <a:buChar char="●"/>
            </a:pPr>
            <a:r>
              <a:rPr lang="en-US" sz="1350" dirty="0">
                <a:solidFill>
                  <a:srgbClr val="475569"/>
                </a:solidFill>
                <a:latin typeface="Calibri" pitchFamily="34" charset="0"/>
                <a:ea typeface="Calibri" pitchFamily="34" charset="-122"/>
                <a:cs typeface="Calibri" pitchFamily="34" charset="-120"/>
              </a:rPr>
              <a:t>Precedence constraints, single-vehicle AND fleet</a:t>
            </a:r>
            <a:endParaRPr lang="en-US" sz="1350" dirty="0"/>
          </a:p>
          <a:p>
            <a:pPr marL="342900" indent="-342900">
              <a:lnSpc>
                <a:spcPct val="125000"/>
              </a:lnSpc>
              <a:spcAft>
                <a:spcPts val="1600"/>
              </a:spcAft>
              <a:buSzPct val="100000"/>
              <a:buChar char="●"/>
            </a:pPr>
            <a:r>
              <a:rPr lang="en-US" sz="1350" dirty="0">
                <a:solidFill>
                  <a:srgbClr val="475569"/>
                </a:solidFill>
                <a:latin typeface="Calibri" pitchFamily="34" charset="0"/>
                <a:ea typeface="Calibri" pitchFamily="34" charset="-122"/>
                <a:cs typeface="Calibri" pitchFamily="34" charset="-120"/>
              </a:rPr>
              <a:t>Cross-cluster precedence (auto-co-located onto one vehicle)</a:t>
            </a:r>
            <a:endParaRPr lang="en-US" sz="1350" dirty="0"/>
          </a:p>
          <a:p>
            <a:pPr marL="342900" indent="-342900">
              <a:lnSpc>
                <a:spcPct val="125000"/>
              </a:lnSpc>
              <a:spcAft>
                <a:spcPts val="1600"/>
              </a:spcAft>
              <a:buSzPct val="100000"/>
              <a:buChar char="●"/>
            </a:pPr>
            <a:r>
              <a:rPr lang="en-US" sz="1350" dirty="0">
                <a:solidFill>
                  <a:srgbClr val="475569"/>
                </a:solidFill>
                <a:latin typeface="Calibri" pitchFamily="34" charset="0"/>
                <a:ea typeface="Calibri" pitchFamily="34" charset="-122"/>
                <a:cs typeface="Calibri" pitchFamily="34" charset="-120"/>
              </a:rPr>
              <a:t>Numeric time-window constraints</a:t>
            </a:r>
            <a:endParaRPr lang="en-US" sz="1350" dirty="0"/>
          </a:p>
          <a:p>
            <a:pPr marL="342900" indent="-342900">
              <a:lnSpc>
                <a:spcPct val="125000"/>
              </a:lnSpc>
              <a:spcAft>
                <a:spcPts val="1600"/>
              </a:spcAft>
              <a:buSzPct val="100000"/>
              <a:buChar char="●"/>
            </a:pPr>
            <a:r>
              <a:rPr lang="en-US" sz="1350" dirty="0">
                <a:solidFill>
                  <a:srgbClr val="475569"/>
                </a:solidFill>
                <a:latin typeface="Calibri" pitchFamily="34" charset="0"/>
                <a:ea typeface="Calibri" pitchFamily="34" charset="-122"/>
                <a:cs typeface="Calibri" pitchFamily="34" charset="-120"/>
              </a:rPr>
              <a:t>Multi-vehicle capacity (count or weight)</a:t>
            </a:r>
            <a:endParaRPr lang="en-US" sz="1350" dirty="0"/>
          </a:p>
          <a:p>
            <a:pPr marL="342900" indent="-342900">
              <a:lnSpc>
                <a:spcPct val="125000"/>
              </a:lnSpc>
              <a:spcAft>
                <a:spcPts val="1600"/>
              </a:spcAft>
              <a:buSzPct val="100000"/>
              <a:buChar char="●"/>
            </a:pPr>
            <a:r>
              <a:rPr lang="en-US" sz="1350" dirty="0">
                <a:solidFill>
                  <a:srgbClr val="475569"/>
                </a:solidFill>
                <a:latin typeface="Calibri" pitchFamily="34" charset="0"/>
                <a:ea typeface="Calibri" pitchFamily="34" charset="-122"/>
                <a:cs typeface="Calibri" pitchFamily="34" charset="-120"/>
              </a:rPr>
              <a:t>OR-Tools + QAOA comparisons</a:t>
            </a:r>
            <a:endParaRPr lang="en-US" sz="1350" dirty="0"/>
          </a:p>
          <a:p>
            <a:pPr marL="342900" indent="-342900">
              <a:lnSpc>
                <a:spcPct val="125000"/>
              </a:lnSpc>
              <a:spcAft>
                <a:spcPts val="1600"/>
              </a:spcAft>
              <a:buSzPct val="100000"/>
              <a:buChar char="●"/>
            </a:pPr>
            <a:r>
              <a:rPr lang="en-US" sz="1350" dirty="0">
                <a:solidFill>
                  <a:srgbClr val="475569"/>
                </a:solidFill>
                <a:latin typeface="Calibri" pitchFamily="34" charset="0"/>
                <a:ea typeface="Calibri" pitchFamily="34" charset="-122"/>
                <a:cs typeface="Calibri" pitchFamily="34" charset="-120"/>
              </a:rPr>
              <a:t>Live usage analytics</a:t>
            </a:r>
            <a:endParaRPr lang="en-US" sz="1350" dirty="0"/>
          </a:p>
          <a:p>
            <a:pPr marL="342900" indent="-342900">
              <a:lnSpc>
                <a:spcPct val="125000"/>
              </a:lnSpc>
              <a:spcAft>
                <a:spcPts val="1600"/>
              </a:spcAft>
              <a:buSzPct val="100000"/>
              <a:buChar char="●"/>
            </a:pPr>
            <a:r>
              <a:rPr lang="en-US" sz="1350" dirty="0">
                <a:solidFill>
                  <a:srgbClr val="475569"/>
                </a:solidFill>
                <a:latin typeface="Calibri" pitchFamily="34" charset="0"/>
                <a:ea typeface="Calibri" pitchFamily="34" charset="-122"/>
                <a:cs typeface="Calibri" pitchFamily="34" charset="-120"/>
              </a:rPr>
              <a:t>Docker + OpenAPI</a:t>
            </a:r>
            <a:endParaRPr lang="en-US" sz="1350" dirty="0"/>
          </a:p>
        </p:txBody>
      </p:sp>
      <p:sp>
        <p:nvSpPr>
          <p:cNvPr id="8" name="Shape 6"/>
          <p:cNvSpPr/>
          <p:nvPr/>
        </p:nvSpPr>
        <p:spPr>
          <a:xfrm>
            <a:off x="6217920" y="1828800"/>
            <a:ext cx="5394960" cy="4114800"/>
          </a:xfrm>
          <a:prstGeom prst="roundRect">
            <a:avLst>
              <a:gd name="adj" fmla="val 2667"/>
            </a:avLst>
          </a:prstGeom>
          <a:solidFill>
            <a:srgbClr val="FFFFFF"/>
          </a:solidFill>
          <a:ln w="12700">
            <a:solidFill>
              <a:srgbClr val="E2E8F0"/>
            </a:solidFill>
            <a:prstDash val="solid"/>
          </a:ln>
          <a:effectLst>
            <a:outerShdw sx="100000" sy="100000" kx="0" ky="0" algn="bl" rotWithShape="0" blurRad="76200" dist="38100" dir="5400000">
              <a:srgbClr val="0F172A">
                <a:alpha val="25000"/>
              </a:srgbClr>
            </a:outerShdw>
          </a:effectLst>
        </p:spPr>
      </p:sp>
      <p:sp>
        <p:nvSpPr>
          <p:cNvPr id="9" name="Shape 7"/>
          <p:cNvSpPr/>
          <p:nvPr/>
        </p:nvSpPr>
        <p:spPr>
          <a:xfrm>
            <a:off x="6537960" y="2148840"/>
            <a:ext cx="320040" cy="320040"/>
          </a:xfrm>
          <a:prstGeom prst="ellipse">
            <a:avLst/>
          </a:prstGeom>
          <a:solidFill>
            <a:srgbClr val="F97316"/>
          </a:solidFill>
          <a:ln/>
        </p:spPr>
      </p:sp>
      <p:sp>
        <p:nvSpPr>
          <p:cNvPr id="10" name="Text 8"/>
          <p:cNvSpPr txBox="1"/>
          <p:nvPr/>
        </p:nvSpPr>
        <p:spPr>
          <a:xfrm>
            <a:off x="6995160" y="2121408"/>
            <a:ext cx="4297680" cy="411480"/>
          </a:xfrm>
          <a:prstGeom prst="rect">
            <a:avLst/>
          </a:prstGeom>
          <a:noFill/>
          <a:ln/>
        </p:spPr>
        <p:txBody>
          <a:bodyPr wrap="square" rtlCol="0" anchor="ctr"/>
          <a:lstStyle/>
          <a:p>
            <a:pPr indent="0" marL="0">
              <a:buNone/>
            </a:pPr>
            <a:r>
              <a:rPr lang="en-US" sz="1700" b="1" dirty="0">
                <a:solidFill>
                  <a:srgbClr val="1E1B4B"/>
                </a:solidFill>
                <a:latin typeface="Cambria" pitchFamily="34" charset="0"/>
                <a:ea typeface="Cambria" pitchFamily="34" charset="-122"/>
                <a:cs typeface="Cambria" pitchFamily="34" charset="-120"/>
              </a:rPr>
              <a:t>Honest next steps</a:t>
            </a:r>
            <a:endParaRPr lang="en-US" sz="1700" dirty="0"/>
          </a:p>
        </p:txBody>
      </p:sp>
      <p:sp>
        <p:nvSpPr>
          <p:cNvPr id="11" name="Text 9"/>
          <p:cNvSpPr txBox="1"/>
          <p:nvPr/>
        </p:nvSpPr>
        <p:spPr>
          <a:xfrm>
            <a:off x="6583680" y="2788920"/>
            <a:ext cx="4663440" cy="2834640"/>
          </a:xfrm>
          <a:prstGeom prst="rect">
            <a:avLst/>
          </a:prstGeom>
          <a:noFill/>
          <a:ln/>
        </p:spPr>
        <p:txBody>
          <a:bodyPr wrap="square" rtlCol="0" anchor="ctr"/>
          <a:lstStyle/>
          <a:p>
            <a:pPr marL="342900" indent="-342900">
              <a:lnSpc>
                <a:spcPct val="125000"/>
              </a:lnSpc>
              <a:spcAft>
                <a:spcPts val="1600"/>
              </a:spcAft>
              <a:buSzPct val="100000"/>
              <a:buChar char="●"/>
            </a:pPr>
            <a:r>
              <a:rPr lang="en-US" sz="1350" dirty="0">
                <a:solidFill>
                  <a:srgbClr val="475569"/>
                </a:solidFill>
                <a:latin typeface="Calibri" pitchFamily="34" charset="0"/>
                <a:ea typeface="Calibri" pitchFamily="34" charset="-122"/>
                <a:cs typeface="Calibri" pitchFamily="34" charset="-120"/>
              </a:rPr>
              <a:t>A real, paid traffic API (interface already pluggable)</a:t>
            </a:r>
            <a:endParaRPr lang="en-US" sz="1350" dirty="0"/>
          </a:p>
          <a:p>
            <a:pPr marL="342900" indent="-342900">
              <a:lnSpc>
                <a:spcPct val="125000"/>
              </a:lnSpc>
              <a:spcAft>
                <a:spcPts val="1600"/>
              </a:spcAft>
              <a:buSzPct val="100000"/>
              <a:buChar char="●"/>
            </a:pPr>
            <a:r>
              <a:rPr lang="en-US" sz="1350" dirty="0">
                <a:solidFill>
                  <a:srgbClr val="475569"/>
                </a:solidFill>
                <a:latin typeface="Calibri" pitchFamily="34" charset="0"/>
                <a:ea typeface="Calibri" pitchFamily="34" charset="-122"/>
                <a:cs typeface="Calibri" pitchFamily="34" charset="-120"/>
              </a:rPr>
              <a:t>Time windows above 9 interior stops (position-based QUBO limit)</a:t>
            </a:r>
            <a:endParaRPr lang="en-US" sz="1350" dirty="0"/>
          </a:p>
          <a:p>
            <a:pPr marL="342900" indent="-342900">
              <a:lnSpc>
                <a:spcPct val="125000"/>
              </a:lnSpc>
              <a:spcAft>
                <a:spcPts val="1600"/>
              </a:spcAft>
              <a:buSzPct val="100000"/>
              <a:buChar char="●"/>
            </a:pPr>
            <a:r>
              <a:rPr lang="en-US" sz="1350" dirty="0">
                <a:solidFill>
                  <a:srgbClr val="475569"/>
                </a:solidFill>
                <a:latin typeface="Calibri" pitchFamily="34" charset="0"/>
                <a:ea typeface="Calibri" pitchFamily="34" charset="-122"/>
                <a:cs typeface="Calibri" pitchFamily="34" charset="-120"/>
              </a:rPr>
              <a:t>Real wall-clock time-window guarantees (needs a different formulation)</a:t>
            </a:r>
            <a:endParaRPr lang="en-US" sz="1350" dirty="0"/>
          </a:p>
          <a:p>
            <a:pPr marL="342900" indent="-342900">
              <a:lnSpc>
                <a:spcPct val="125000"/>
              </a:lnSpc>
              <a:spcAft>
                <a:spcPts val="1600"/>
              </a:spcAft>
              <a:buSzPct val="100000"/>
              <a:buChar char="●"/>
            </a:pPr>
            <a:r>
              <a:rPr lang="en-US" sz="1350" dirty="0">
                <a:solidFill>
                  <a:srgbClr val="475569"/>
                </a:solidFill>
                <a:latin typeface="Calibri" pitchFamily="34" charset="0"/>
                <a:ea typeface="Calibri" pitchFamily="34" charset="-122"/>
                <a:cs typeface="Calibri" pitchFamily="34" charset="-120"/>
              </a:rPr>
              <a:t>Shared, durable analytics storage past a single worker</a:t>
            </a:r>
            <a:endParaRPr lang="en-US" sz="1350" dirty="0"/>
          </a:p>
        </p:txBody>
      </p:sp>
      <p:sp>
        <p:nvSpPr>
          <p:cNvPr id="12" name="Text 10"/>
          <p:cNvSpPr txBox="1"/>
          <p:nvPr/>
        </p:nvSpPr>
        <p:spPr>
          <a:xfrm>
            <a:off x="54864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Quantum-Inspired Traffic Router  ·  SIH26137</a:t>
            </a:r>
            <a:endParaRPr lang="en-US" sz="900" dirty="0"/>
          </a:p>
        </p:txBody>
      </p:sp>
      <p:sp>
        <p:nvSpPr>
          <p:cNvPr id="13" name="Text 11"/>
          <p:cNvSpPr txBox="1"/>
          <p:nvPr/>
        </p:nvSpPr>
        <p:spPr>
          <a:xfrm>
            <a:off x="11521440" y="6473952"/>
            <a:ext cx="365760"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2286000" y="3200400"/>
            <a:ext cx="6400800" cy="6400800"/>
          </a:xfrm>
          <a:prstGeom prst="ellipse">
            <a:avLst/>
          </a:prstGeom>
          <a:solidFill>
            <a:srgbClr val="7C3AED">
              <a:alpha val="20000"/>
            </a:srgbClr>
          </a:solidFill>
          <a:ln/>
        </p:spPr>
      </p:sp>
      <p:sp>
        <p:nvSpPr>
          <p:cNvPr id="3" name="Text 1"/>
          <p:cNvSpPr txBox="1"/>
          <p:nvPr/>
        </p:nvSpPr>
        <p:spPr>
          <a:xfrm>
            <a:off x="822960" y="2286000"/>
            <a:ext cx="9144000" cy="1097280"/>
          </a:xfrm>
          <a:prstGeom prst="rect">
            <a:avLst/>
          </a:prstGeom>
          <a:noFill/>
          <a:ln/>
        </p:spPr>
        <p:txBody>
          <a:bodyPr wrap="square"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4" name="Text 2"/>
          <p:cNvSpPr txBox="1"/>
          <p:nvPr/>
        </p:nvSpPr>
        <p:spPr>
          <a:xfrm>
            <a:off x="822960" y="3291840"/>
            <a:ext cx="8229600" cy="548640"/>
          </a:xfrm>
          <a:prstGeom prst="rect">
            <a:avLst/>
          </a:prstGeom>
          <a:noFill/>
          <a:ln/>
        </p:spPr>
        <p:txBody>
          <a:bodyPr wrap="square" rtlCol="0" anchor="ctr"/>
          <a:lstStyle/>
          <a:p>
            <a:pPr indent="0" marL="0">
              <a:buNone/>
            </a:pPr>
            <a:r>
              <a:rPr lang="en-US" sz="1600" i="1" dirty="0">
                <a:solidFill>
                  <a:srgbClr val="C7D2FE"/>
                </a:solidFill>
                <a:latin typeface="Calibri" pitchFamily="34" charset="0"/>
                <a:ea typeface="Calibri" pitchFamily="34" charset="-122"/>
                <a:cs typeface="Calibri" pitchFamily="34" charset="-120"/>
              </a:rPr>
              <a:t>Questions welcome — including the hard ones about what's simulated and what isn't.</a:t>
            </a:r>
            <a:endParaRPr lang="en-US" sz="1600" dirty="0"/>
          </a:p>
        </p:txBody>
      </p:sp>
      <p:sp>
        <p:nvSpPr>
          <p:cNvPr id="5" name="Text 3"/>
          <p:cNvSpPr txBox="1"/>
          <p:nvPr/>
        </p:nvSpPr>
        <p:spPr>
          <a:xfrm>
            <a:off x="822960" y="4206240"/>
            <a:ext cx="7315200" cy="365760"/>
          </a:xfrm>
          <a:prstGeom prst="rect">
            <a:avLst/>
          </a:prstGeom>
          <a:noFill/>
          <a:ln/>
        </p:spPr>
        <p:txBody>
          <a:bodyPr wrap="square" rtlCol="0" anchor="ctr"/>
          <a:lstStyle/>
          <a:p>
            <a:pPr indent="0" marL="0">
              <a:buNone/>
            </a:pPr>
            <a:r>
              <a:rPr lang="en-US" sz="1400" dirty="0">
                <a:solidFill>
                  <a:srgbClr val="22D3EE"/>
                </a:solidFill>
                <a:latin typeface="Calibri" pitchFamily="34" charset="0"/>
                <a:ea typeface="Calibri" pitchFamily="34" charset="-122"/>
                <a:cs typeface="Calibri" pitchFamily="34" charset="-120"/>
              </a:rPr>
              <a:t>Live demo: traffic-router.onrender.com</a:t>
            </a:r>
            <a:endParaRPr lang="en-US" sz="1400" dirty="0"/>
          </a:p>
        </p:txBody>
      </p:sp>
      <p:sp>
        <p:nvSpPr>
          <p:cNvPr id="6" name="Text 4"/>
          <p:cNvSpPr txBox="1"/>
          <p:nvPr/>
        </p:nvSpPr>
        <p:spPr>
          <a:xfrm>
            <a:off x="822960" y="4617720"/>
            <a:ext cx="7315200" cy="365760"/>
          </a:xfrm>
          <a:prstGeom prst="rect">
            <a:avLst/>
          </a:prstGeom>
          <a:noFill/>
          <a:ln/>
        </p:spPr>
        <p:txBody>
          <a:bodyPr wrap="square" rtlCol="0" anchor="ctr"/>
          <a:lstStyle/>
          <a:p>
            <a:pPr indent="0" marL="0">
              <a:buNone/>
            </a:pPr>
            <a:r>
              <a:rPr lang="en-US" sz="1400" dirty="0">
                <a:solidFill>
                  <a:srgbClr val="22D3EE"/>
                </a:solidFill>
                <a:latin typeface="Calibri" pitchFamily="34" charset="0"/>
                <a:ea typeface="Calibri" pitchFamily="34" charset="-122"/>
                <a:cs typeface="Calibri" pitchFamily="34" charset="-120"/>
              </a:rPr>
              <a:t>Code + full test suite + docs: see the project README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Quantum-Inspired Traffic Router</dc:title>
  <dc:subject>PptxGenJS Presentation</dc:subject>
  <dc:creator>Quantum-Inspired Traffic Router — SIH26137</dc:creator>
  <cp:lastModifiedBy>Quantum-Inspired Traffic Router — SIH26137</cp:lastModifiedBy>
  <cp:revision>1</cp:revision>
  <dcterms:created xsi:type="dcterms:W3CDTF">2026-09-11T08:41:10Z</dcterms:created>
  <dcterms:modified xsi:type="dcterms:W3CDTF">2026-09-11T08:41:10Z</dcterms:modified>
</cp:coreProperties>
</file>